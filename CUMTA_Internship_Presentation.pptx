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48"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8670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951"/>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D9488"/>
          </a:solidFill>
          <a:ln w="12700">
            <a:solidFill>
              <a:srgbClr val="0D9488"/>
            </a:solidFill>
            <a:prstDash val="solid"/>
          </a:ln>
        </p:spPr>
        <p:txBody>
          <a:bodyPr/>
          <a:lstStyle/>
          <a:p>
            <a:endParaRPr lang="en-US"/>
          </a:p>
        </p:txBody>
      </p:sp>
      <p:sp>
        <p:nvSpPr>
          <p:cNvPr id="3" name="Shape 1"/>
          <p:cNvSpPr/>
          <p:nvPr/>
        </p:nvSpPr>
        <p:spPr>
          <a:xfrm>
            <a:off x="6583680" y="-1097280"/>
            <a:ext cx="4114800" cy="4114800"/>
          </a:xfrm>
          <a:prstGeom prst="ellipse">
            <a:avLst/>
          </a:prstGeom>
          <a:solidFill>
            <a:srgbClr val="14B8A6">
              <a:alpha val="15000"/>
            </a:srgbClr>
          </a:solidFill>
          <a:ln w="12700">
            <a:solidFill>
              <a:srgbClr val="14B8A6"/>
            </a:solidFill>
            <a:prstDash val="solid"/>
          </a:ln>
        </p:spPr>
        <p:txBody>
          <a:bodyPr/>
          <a:lstStyle/>
          <a:p>
            <a:endParaRPr lang="en-US"/>
          </a:p>
        </p:txBody>
      </p:sp>
      <p:sp>
        <p:nvSpPr>
          <p:cNvPr id="4" name="Shape 2"/>
          <p:cNvSpPr/>
          <p:nvPr/>
        </p:nvSpPr>
        <p:spPr>
          <a:xfrm>
            <a:off x="7132320" y="3200400"/>
            <a:ext cx="2743200" cy="2743200"/>
          </a:xfrm>
          <a:prstGeom prst="ellipse">
            <a:avLst/>
          </a:prstGeom>
          <a:solidFill>
            <a:srgbClr val="0D9488">
              <a:alpha val="12000"/>
            </a:srgbClr>
          </a:solidFill>
          <a:ln w="12700">
            <a:solidFill>
              <a:srgbClr val="0D9488"/>
            </a:solidFill>
            <a:prstDash val="solid"/>
          </a:ln>
        </p:spPr>
        <p:txBody>
          <a:bodyPr/>
          <a:lstStyle/>
          <a:p>
            <a:endParaRPr lang="en-US"/>
          </a:p>
        </p:txBody>
      </p:sp>
      <p:sp>
        <p:nvSpPr>
          <p:cNvPr id="5" name="Text 3"/>
          <p:cNvSpPr/>
          <p:nvPr/>
        </p:nvSpPr>
        <p:spPr>
          <a:xfrm>
            <a:off x="640080" y="1097280"/>
            <a:ext cx="7772400" cy="502920"/>
          </a:xfrm>
          <a:prstGeom prst="rect">
            <a:avLst/>
          </a:prstGeom>
          <a:noFill/>
          <a:ln/>
        </p:spPr>
        <p:txBody>
          <a:bodyPr wrap="square" lIns="0" tIns="0" rIns="0" bIns="0" rtlCol="0" anchor="ctr"/>
          <a:lstStyle/>
          <a:p>
            <a:pPr marL="0" indent="0">
              <a:buNone/>
            </a:pPr>
            <a:r>
              <a:rPr lang="en-US" sz="1400" b="1" kern="0" spc="600" dirty="0">
                <a:solidFill>
                  <a:srgbClr val="14B8A6"/>
                </a:solidFill>
                <a:latin typeface="Calibri" pitchFamily="34" charset="0"/>
                <a:ea typeface="Calibri" pitchFamily="34" charset="-122"/>
                <a:cs typeface="Calibri" pitchFamily="34" charset="-120"/>
              </a:rPr>
              <a:t>DATA SCIENCE</a:t>
            </a:r>
            <a:endParaRPr lang="en-US" sz="1400" dirty="0"/>
          </a:p>
        </p:txBody>
      </p:sp>
      <p:sp>
        <p:nvSpPr>
          <p:cNvPr id="6" name="Text 4"/>
          <p:cNvSpPr/>
          <p:nvPr/>
        </p:nvSpPr>
        <p:spPr>
          <a:xfrm>
            <a:off x="640080" y="1600200"/>
            <a:ext cx="7772400" cy="1005840"/>
          </a:xfrm>
          <a:prstGeom prst="rect">
            <a:avLst/>
          </a:prstGeom>
          <a:noFill/>
          <a:ln/>
        </p:spPr>
        <p:txBody>
          <a:bodyPr wrap="square" lIns="0" tIns="0" rIns="0" bIns="0" rtlCol="0" anchor="ctr"/>
          <a:lstStyle/>
          <a:p>
            <a:pPr marL="0" indent="0">
              <a:buNone/>
            </a:pPr>
            <a:r>
              <a:rPr lang="en-US" sz="4200" b="1" dirty="0">
                <a:solidFill>
                  <a:srgbClr val="FFFFFF"/>
                </a:solidFill>
                <a:latin typeface="Georgia" pitchFamily="34" charset="0"/>
                <a:ea typeface="Georgia" pitchFamily="34" charset="-122"/>
                <a:cs typeface="Georgia" pitchFamily="34" charset="-120"/>
              </a:rPr>
              <a:t>Internship Report</a:t>
            </a:r>
            <a:endParaRPr lang="en-US" sz="4200" dirty="0"/>
          </a:p>
        </p:txBody>
      </p:sp>
      <p:sp>
        <p:nvSpPr>
          <p:cNvPr id="7" name="Text 5"/>
          <p:cNvSpPr/>
          <p:nvPr/>
        </p:nvSpPr>
        <p:spPr>
          <a:xfrm>
            <a:off x="640080" y="2606040"/>
            <a:ext cx="7315200" cy="502920"/>
          </a:xfrm>
          <a:prstGeom prst="rect">
            <a:avLst/>
          </a:prstGeom>
          <a:noFill/>
          <a:ln/>
        </p:spPr>
        <p:txBody>
          <a:bodyPr wrap="square" lIns="0" tIns="0" rIns="0" bIns="0" rtlCol="0" anchor="ctr"/>
          <a:lstStyle/>
          <a:p>
            <a:pPr marL="0" indent="0">
              <a:buNone/>
            </a:pPr>
            <a:r>
              <a:rPr lang="en-US" sz="1700" dirty="0">
                <a:solidFill>
                  <a:srgbClr val="94A3B8"/>
                </a:solidFill>
                <a:latin typeface="Calibri" pitchFamily="34" charset="0"/>
                <a:ea typeface="Calibri" pitchFamily="34" charset="-122"/>
                <a:cs typeface="Calibri" pitchFamily="34" charset="-120"/>
              </a:rPr>
              <a:t>Chennai Unified Metropolitan Transport Authority (CUMTA)</a:t>
            </a:r>
            <a:endParaRPr lang="en-US" sz="1700" dirty="0"/>
          </a:p>
        </p:txBody>
      </p:sp>
      <p:sp>
        <p:nvSpPr>
          <p:cNvPr id="8" name="Shape 6"/>
          <p:cNvSpPr/>
          <p:nvPr/>
        </p:nvSpPr>
        <p:spPr>
          <a:xfrm>
            <a:off x="640080" y="3383280"/>
            <a:ext cx="2286000" cy="36576"/>
          </a:xfrm>
          <a:prstGeom prst="rect">
            <a:avLst/>
          </a:prstGeom>
          <a:solidFill>
            <a:srgbClr val="0D9488"/>
          </a:solidFill>
          <a:ln w="12700">
            <a:solidFill>
              <a:srgbClr val="0D9488"/>
            </a:solidFill>
            <a:prstDash val="solid"/>
          </a:ln>
        </p:spPr>
        <p:txBody>
          <a:bodyPr/>
          <a:lstStyle/>
          <a:p>
            <a:endParaRPr lang="en-US"/>
          </a:p>
        </p:txBody>
      </p:sp>
      <p:sp>
        <p:nvSpPr>
          <p:cNvPr id="9" name="Text 7"/>
          <p:cNvSpPr/>
          <p:nvPr/>
        </p:nvSpPr>
        <p:spPr>
          <a:xfrm>
            <a:off x="640080" y="3520440"/>
            <a:ext cx="7315200" cy="822960"/>
          </a:xfrm>
          <a:prstGeom prst="rect">
            <a:avLst/>
          </a:prstGeom>
          <a:noFill/>
          <a:ln/>
        </p:spPr>
        <p:txBody>
          <a:bodyPr wrap="square" lIns="0" tIns="0" rIns="0" bIns="0" rtlCol="0" anchor="ctr"/>
          <a:lstStyle/>
          <a:p>
            <a:pPr marL="0" indent="0">
              <a:buNone/>
            </a:pPr>
            <a:r>
              <a:rPr lang="en-US" sz="1200" b="1" dirty="0">
                <a:solidFill>
                  <a:srgbClr val="CBD5E1"/>
                </a:solidFill>
                <a:latin typeface="Calibri" pitchFamily="34" charset="0"/>
                <a:ea typeface="Calibri" pitchFamily="34" charset="-122"/>
                <a:cs typeface="Calibri" pitchFamily="34" charset="-120"/>
              </a:rPr>
              <a:t>Manoj Kumar D</a:t>
            </a:r>
            <a:endParaRPr lang="en-US" sz="1200" dirty="0"/>
          </a:p>
          <a:p>
            <a:pPr marL="0" indent="0">
              <a:buNone/>
            </a:pPr>
            <a:r>
              <a:rPr lang="en-US" sz="1200" dirty="0">
                <a:solidFill>
                  <a:srgbClr val="CBD5E1"/>
                </a:solidFill>
                <a:latin typeface="Calibri" pitchFamily="34" charset="0"/>
                <a:ea typeface="Calibri" pitchFamily="34" charset="-122"/>
                <a:cs typeface="Calibri" pitchFamily="34" charset="-120"/>
              </a:rPr>
              <a:t>412422205084  |  B.Tech Information Technology</a:t>
            </a:r>
            <a:endParaRPr lang="en-US" sz="1200" dirty="0"/>
          </a:p>
        </p:txBody>
      </p:sp>
      <p:sp>
        <p:nvSpPr>
          <p:cNvPr id="10" name="Text 8"/>
          <p:cNvSpPr/>
          <p:nvPr/>
        </p:nvSpPr>
        <p:spPr>
          <a:xfrm>
            <a:off x="640080" y="4343400"/>
            <a:ext cx="8229600" cy="36576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Sri Sai Ram Institute of Technology (Autonomous)  |  Anna University, Chennai  |  June – August 2024</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9F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C2951"/>
          </a:solidFill>
          <a:ln w="12700">
            <a:solidFill>
              <a:srgbClr val="1C2951"/>
            </a:solidFill>
            <a:prstDash val="solid"/>
          </a:ln>
        </p:spPr>
        <p:txBody>
          <a:bodyPr/>
          <a:lstStyle/>
          <a:p>
            <a:endParaRPr lang="en-US"/>
          </a:p>
        </p:txBody>
      </p:sp>
      <p:sp>
        <p:nvSpPr>
          <p:cNvPr id="3" name="Shape 1"/>
          <p:cNvSpPr/>
          <p:nvPr/>
        </p:nvSpPr>
        <p:spPr>
          <a:xfrm>
            <a:off x="0" y="1005840"/>
            <a:ext cx="9144000" cy="54864"/>
          </a:xfrm>
          <a:prstGeom prst="rect">
            <a:avLst/>
          </a:prstGeom>
          <a:solidFill>
            <a:srgbClr val="0D9488"/>
          </a:solidFill>
          <a:ln w="12700">
            <a:solidFill>
              <a:srgbClr val="0D9488"/>
            </a:solidFill>
            <a:prstDash val="solid"/>
          </a:ln>
        </p:spPr>
        <p:txBody>
          <a:bodyPr/>
          <a:lstStyle/>
          <a:p>
            <a:endParaRPr lang="en-US"/>
          </a:p>
        </p:txBody>
      </p:sp>
      <p:sp>
        <p:nvSpPr>
          <p:cNvPr id="4" name="Text 2"/>
          <p:cNvSpPr/>
          <p:nvPr/>
        </p:nvSpPr>
        <p:spPr>
          <a:xfrm>
            <a:off x="457200" y="0"/>
            <a:ext cx="8229600" cy="10058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Chapter 1  |  Abstract</a:t>
            </a:r>
            <a:endParaRPr lang="en-US" sz="2600" dirty="0"/>
          </a:p>
        </p:txBody>
      </p:sp>
      <p:sp>
        <p:nvSpPr>
          <p:cNvPr id="5" name="Shape 3"/>
          <p:cNvSpPr/>
          <p:nvPr/>
        </p:nvSpPr>
        <p:spPr>
          <a:xfrm>
            <a:off x="320040" y="1234440"/>
            <a:ext cx="4206240" cy="100584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320040" y="1234440"/>
            <a:ext cx="64008" cy="1005840"/>
          </a:xfrm>
          <a:prstGeom prst="rect">
            <a:avLst/>
          </a:prstGeom>
          <a:solidFill>
            <a:srgbClr val="0D9488"/>
          </a:solidFill>
          <a:ln w="12700">
            <a:solidFill>
              <a:srgbClr val="0D9488"/>
            </a:solidFill>
            <a:prstDash val="solid"/>
          </a:ln>
        </p:spPr>
        <p:txBody>
          <a:bodyPr/>
          <a:lstStyle/>
          <a:p>
            <a:endParaRPr lang="en-US"/>
          </a:p>
        </p:txBody>
      </p:sp>
      <p:sp>
        <p:nvSpPr>
          <p:cNvPr id="7" name="Text 5"/>
          <p:cNvSpPr/>
          <p:nvPr/>
        </p:nvSpPr>
        <p:spPr>
          <a:xfrm>
            <a:off x="521208" y="1307592"/>
            <a:ext cx="3840480" cy="868680"/>
          </a:xfrm>
          <a:prstGeom prst="rect">
            <a:avLst/>
          </a:prstGeom>
          <a:noFill/>
          <a:ln/>
        </p:spPr>
        <p:txBody>
          <a:bodyPr wrap="square" lIns="0" tIns="0" rIns="0" bIns="0" rtlCol="0" anchor="t"/>
          <a:lstStyle/>
          <a:p>
            <a:pPr marL="0" indent="0">
              <a:buNone/>
            </a:pPr>
            <a:r>
              <a:rPr lang="en-US" sz="1050" dirty="0">
                <a:solidFill>
                  <a:srgbClr val="1E293B"/>
                </a:solidFill>
                <a:latin typeface="Calibri" pitchFamily="34" charset="0"/>
                <a:ea typeface="Calibri" pitchFamily="34" charset="-122"/>
                <a:cs typeface="Calibri" pitchFamily="34" charset="-120"/>
              </a:rPr>
              <a:t>Internship conducted at Chennai Unified Metropolitan Transport Authority (CUMTA), focusing on smart city traffic solutions.</a:t>
            </a:r>
            <a:endParaRPr lang="en-US" sz="1050" dirty="0"/>
          </a:p>
        </p:txBody>
      </p:sp>
      <p:sp>
        <p:nvSpPr>
          <p:cNvPr id="8" name="Shape 6"/>
          <p:cNvSpPr/>
          <p:nvPr/>
        </p:nvSpPr>
        <p:spPr>
          <a:xfrm>
            <a:off x="320040" y="2404872"/>
            <a:ext cx="4206240" cy="100584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9" name="Shape 7"/>
          <p:cNvSpPr/>
          <p:nvPr/>
        </p:nvSpPr>
        <p:spPr>
          <a:xfrm>
            <a:off x="320040" y="2404872"/>
            <a:ext cx="64008" cy="1005840"/>
          </a:xfrm>
          <a:prstGeom prst="rect">
            <a:avLst/>
          </a:prstGeom>
          <a:solidFill>
            <a:srgbClr val="0D9488"/>
          </a:solidFill>
          <a:ln w="12700">
            <a:solidFill>
              <a:srgbClr val="0D9488"/>
            </a:solidFill>
            <a:prstDash val="solid"/>
          </a:ln>
        </p:spPr>
        <p:txBody>
          <a:bodyPr/>
          <a:lstStyle/>
          <a:p>
            <a:endParaRPr lang="en-US"/>
          </a:p>
        </p:txBody>
      </p:sp>
      <p:sp>
        <p:nvSpPr>
          <p:cNvPr id="10" name="Text 8"/>
          <p:cNvSpPr/>
          <p:nvPr/>
        </p:nvSpPr>
        <p:spPr>
          <a:xfrm>
            <a:off x="521208" y="2478024"/>
            <a:ext cx="3840480" cy="868680"/>
          </a:xfrm>
          <a:prstGeom prst="rect">
            <a:avLst/>
          </a:prstGeom>
          <a:noFill/>
          <a:ln/>
        </p:spPr>
        <p:txBody>
          <a:bodyPr wrap="square" lIns="0" tIns="0" rIns="0" bIns="0" rtlCol="0" anchor="t"/>
          <a:lstStyle/>
          <a:p>
            <a:pPr marL="0" indent="0">
              <a:buNone/>
            </a:pPr>
            <a:r>
              <a:rPr lang="en-US" sz="1050" dirty="0">
                <a:solidFill>
                  <a:srgbClr val="1E293B"/>
                </a:solidFill>
                <a:latin typeface="Calibri" pitchFamily="34" charset="0"/>
                <a:ea typeface="Calibri" pitchFamily="34" charset="-122"/>
                <a:cs typeface="Calibri" pitchFamily="34" charset="-120"/>
              </a:rPr>
              <a:t>Phase 1 — Data Manipulation: Cleaned and preprocessed Tiruvannamalai Bus Depot dataset using Jupyter Notebook &amp; Python (Pandas).</a:t>
            </a:r>
            <a:endParaRPr lang="en-US" sz="1050" dirty="0"/>
          </a:p>
        </p:txBody>
      </p:sp>
      <p:sp>
        <p:nvSpPr>
          <p:cNvPr id="11" name="Shape 9"/>
          <p:cNvSpPr/>
          <p:nvPr/>
        </p:nvSpPr>
        <p:spPr>
          <a:xfrm>
            <a:off x="320040" y="3575304"/>
            <a:ext cx="4206240" cy="100584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2" name="Shape 10"/>
          <p:cNvSpPr/>
          <p:nvPr/>
        </p:nvSpPr>
        <p:spPr>
          <a:xfrm>
            <a:off x="320040" y="3575304"/>
            <a:ext cx="64008" cy="1005840"/>
          </a:xfrm>
          <a:prstGeom prst="rect">
            <a:avLst/>
          </a:prstGeom>
          <a:solidFill>
            <a:srgbClr val="0D9488"/>
          </a:solidFill>
          <a:ln w="12700">
            <a:solidFill>
              <a:srgbClr val="0D9488"/>
            </a:solidFill>
            <a:prstDash val="solid"/>
          </a:ln>
        </p:spPr>
        <p:txBody>
          <a:bodyPr/>
          <a:lstStyle/>
          <a:p>
            <a:endParaRPr lang="en-US"/>
          </a:p>
        </p:txBody>
      </p:sp>
      <p:sp>
        <p:nvSpPr>
          <p:cNvPr id="13" name="Text 11"/>
          <p:cNvSpPr/>
          <p:nvPr/>
        </p:nvSpPr>
        <p:spPr>
          <a:xfrm>
            <a:off x="521208" y="3648456"/>
            <a:ext cx="3840480" cy="868680"/>
          </a:xfrm>
          <a:prstGeom prst="rect">
            <a:avLst/>
          </a:prstGeom>
          <a:noFill/>
          <a:ln/>
        </p:spPr>
        <p:txBody>
          <a:bodyPr wrap="square" lIns="0" tIns="0" rIns="0" bIns="0" rtlCol="0" anchor="t"/>
          <a:lstStyle/>
          <a:p>
            <a:pPr marL="0" indent="0">
              <a:buNone/>
            </a:pPr>
            <a:r>
              <a:rPr lang="en-US" sz="1050" dirty="0">
                <a:solidFill>
                  <a:srgbClr val="1E293B"/>
                </a:solidFill>
                <a:latin typeface="Calibri" pitchFamily="34" charset="0"/>
                <a:ea typeface="Calibri" pitchFamily="34" charset="-122"/>
                <a:cs typeface="Calibri" pitchFamily="34" charset="-120"/>
              </a:rPr>
              <a:t>Phase 2 — Tableau Dashboard: Built an interactive dashboard for EGA Theatre Signal displaying live vehicle count data.</a:t>
            </a:r>
            <a:endParaRPr lang="en-US" sz="1050" dirty="0"/>
          </a:p>
        </p:txBody>
      </p:sp>
      <p:sp>
        <p:nvSpPr>
          <p:cNvPr id="14" name="Shape 12"/>
          <p:cNvSpPr/>
          <p:nvPr/>
        </p:nvSpPr>
        <p:spPr>
          <a:xfrm>
            <a:off x="4800600" y="1234440"/>
            <a:ext cx="4206240" cy="100584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5" name="Shape 13"/>
          <p:cNvSpPr/>
          <p:nvPr/>
        </p:nvSpPr>
        <p:spPr>
          <a:xfrm>
            <a:off x="4800600" y="1234440"/>
            <a:ext cx="64008" cy="1005840"/>
          </a:xfrm>
          <a:prstGeom prst="rect">
            <a:avLst/>
          </a:prstGeom>
          <a:solidFill>
            <a:srgbClr val="0D9488"/>
          </a:solidFill>
          <a:ln w="12700">
            <a:solidFill>
              <a:srgbClr val="0D9488"/>
            </a:solidFill>
            <a:prstDash val="solid"/>
          </a:ln>
        </p:spPr>
        <p:txBody>
          <a:bodyPr/>
          <a:lstStyle/>
          <a:p>
            <a:endParaRPr lang="en-US"/>
          </a:p>
        </p:txBody>
      </p:sp>
      <p:sp>
        <p:nvSpPr>
          <p:cNvPr id="16" name="Text 14"/>
          <p:cNvSpPr/>
          <p:nvPr/>
        </p:nvSpPr>
        <p:spPr>
          <a:xfrm>
            <a:off x="5001768" y="1307592"/>
            <a:ext cx="3840480" cy="868680"/>
          </a:xfrm>
          <a:prstGeom prst="rect">
            <a:avLst/>
          </a:prstGeom>
          <a:noFill/>
          <a:ln/>
        </p:spPr>
        <p:txBody>
          <a:bodyPr wrap="square" lIns="0" tIns="0" rIns="0" bIns="0" rtlCol="0" anchor="t"/>
          <a:lstStyle/>
          <a:p>
            <a:pPr marL="0" indent="0">
              <a:buNone/>
            </a:pPr>
            <a:r>
              <a:rPr lang="en-US" sz="1050" dirty="0">
                <a:solidFill>
                  <a:srgbClr val="1E293B"/>
                </a:solidFill>
                <a:latin typeface="Calibri" pitchFamily="34" charset="0"/>
                <a:ea typeface="Calibri" pitchFamily="34" charset="-122"/>
                <a:cs typeface="Calibri" pitchFamily="34" charset="-120"/>
              </a:rPr>
              <a:t>Phase 3 — Flask Backend: Developed REST APIs to serve vehicle count data from PostgreSQL to a web frontend.</a:t>
            </a:r>
            <a:endParaRPr lang="en-US" sz="1050" dirty="0"/>
          </a:p>
        </p:txBody>
      </p:sp>
      <p:sp>
        <p:nvSpPr>
          <p:cNvPr id="17" name="Shape 15"/>
          <p:cNvSpPr/>
          <p:nvPr/>
        </p:nvSpPr>
        <p:spPr>
          <a:xfrm>
            <a:off x="4800600" y="2404872"/>
            <a:ext cx="4206240" cy="100584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8" name="Shape 16"/>
          <p:cNvSpPr/>
          <p:nvPr/>
        </p:nvSpPr>
        <p:spPr>
          <a:xfrm>
            <a:off x="4800600" y="2404872"/>
            <a:ext cx="64008" cy="1005840"/>
          </a:xfrm>
          <a:prstGeom prst="rect">
            <a:avLst/>
          </a:prstGeom>
          <a:solidFill>
            <a:srgbClr val="0D9488"/>
          </a:solidFill>
          <a:ln w="12700">
            <a:solidFill>
              <a:srgbClr val="0D9488"/>
            </a:solidFill>
            <a:prstDash val="solid"/>
          </a:ln>
        </p:spPr>
        <p:txBody>
          <a:bodyPr/>
          <a:lstStyle/>
          <a:p>
            <a:endParaRPr lang="en-US"/>
          </a:p>
        </p:txBody>
      </p:sp>
      <p:sp>
        <p:nvSpPr>
          <p:cNvPr id="19" name="Text 17"/>
          <p:cNvSpPr/>
          <p:nvPr/>
        </p:nvSpPr>
        <p:spPr>
          <a:xfrm>
            <a:off x="5001768" y="2478024"/>
            <a:ext cx="3840480" cy="868680"/>
          </a:xfrm>
          <a:prstGeom prst="rect">
            <a:avLst/>
          </a:prstGeom>
          <a:noFill/>
          <a:ln/>
        </p:spPr>
        <p:txBody>
          <a:bodyPr wrap="square" lIns="0" tIns="0" rIns="0" bIns="0" rtlCol="0" anchor="t"/>
          <a:lstStyle/>
          <a:p>
            <a:pPr marL="0" indent="0">
              <a:buNone/>
            </a:pPr>
            <a:r>
              <a:rPr lang="en-US" sz="1050" dirty="0">
                <a:solidFill>
                  <a:srgbClr val="1E293B"/>
                </a:solidFill>
                <a:latin typeface="Calibri" pitchFamily="34" charset="0"/>
                <a:ea typeface="Calibri" pitchFamily="34" charset="-122"/>
                <a:cs typeface="Calibri" pitchFamily="34" charset="-120"/>
              </a:rPr>
              <a:t>Phase 4 — Image Annotation: Annotated 2,019 traffic images across 9 vehicle classes in Roboflow for AI model training.</a:t>
            </a:r>
            <a:endParaRPr lang="en-US" sz="1050" dirty="0"/>
          </a:p>
        </p:txBody>
      </p:sp>
      <p:sp>
        <p:nvSpPr>
          <p:cNvPr id="20" name="Shape 18"/>
          <p:cNvSpPr/>
          <p:nvPr/>
        </p:nvSpPr>
        <p:spPr>
          <a:xfrm>
            <a:off x="4800600" y="3575304"/>
            <a:ext cx="4206240" cy="100584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1" name="Shape 19"/>
          <p:cNvSpPr/>
          <p:nvPr/>
        </p:nvSpPr>
        <p:spPr>
          <a:xfrm>
            <a:off x="4800600" y="3575304"/>
            <a:ext cx="64008" cy="1005840"/>
          </a:xfrm>
          <a:prstGeom prst="rect">
            <a:avLst/>
          </a:prstGeom>
          <a:solidFill>
            <a:srgbClr val="0D9488"/>
          </a:solidFill>
          <a:ln w="12700">
            <a:solidFill>
              <a:srgbClr val="0D9488"/>
            </a:solidFill>
            <a:prstDash val="solid"/>
          </a:ln>
        </p:spPr>
        <p:txBody>
          <a:bodyPr/>
          <a:lstStyle/>
          <a:p>
            <a:endParaRPr lang="en-US"/>
          </a:p>
        </p:txBody>
      </p:sp>
      <p:sp>
        <p:nvSpPr>
          <p:cNvPr id="22" name="Text 20"/>
          <p:cNvSpPr/>
          <p:nvPr/>
        </p:nvSpPr>
        <p:spPr>
          <a:xfrm>
            <a:off x="5001768" y="3648456"/>
            <a:ext cx="3840480" cy="868680"/>
          </a:xfrm>
          <a:prstGeom prst="rect">
            <a:avLst/>
          </a:prstGeom>
          <a:noFill/>
          <a:ln/>
        </p:spPr>
        <p:txBody>
          <a:bodyPr wrap="square" lIns="0" tIns="0" rIns="0" bIns="0" rtlCol="0" anchor="t"/>
          <a:lstStyle/>
          <a:p>
            <a:pPr marL="0" indent="0">
              <a:buNone/>
            </a:pPr>
            <a:r>
              <a:rPr lang="en-US" sz="1050" dirty="0">
                <a:solidFill>
                  <a:srgbClr val="1E293B"/>
                </a:solidFill>
                <a:latin typeface="Calibri" pitchFamily="34" charset="0"/>
                <a:ea typeface="Calibri" pitchFamily="34" charset="-122"/>
                <a:cs typeface="Calibri" pitchFamily="34" charset="-120"/>
              </a:rPr>
              <a:t>Outcome: A comprehensive data pipeline laying the foundation for AI-driven traffic monitoring in Chennai.</a:t>
            </a:r>
            <a:endParaRPr lang="en-US" sz="1050" dirty="0"/>
          </a:p>
        </p:txBody>
      </p:sp>
      <p:sp>
        <p:nvSpPr>
          <p:cNvPr id="23" name="Shape 21"/>
          <p:cNvSpPr/>
          <p:nvPr/>
        </p:nvSpPr>
        <p:spPr>
          <a:xfrm>
            <a:off x="0" y="4873752"/>
            <a:ext cx="9144000" cy="274320"/>
          </a:xfrm>
          <a:prstGeom prst="rect">
            <a:avLst/>
          </a:prstGeom>
          <a:solidFill>
            <a:srgbClr val="1C2951"/>
          </a:solidFill>
          <a:ln w="12700">
            <a:solidFill>
              <a:srgbClr val="1C2951"/>
            </a:solidFill>
            <a:prstDash val="solid"/>
          </a:ln>
        </p:spPr>
        <p:txBody>
          <a:bodyPr/>
          <a:lstStyle/>
          <a:p>
            <a:endParaRPr lang="en-US"/>
          </a:p>
        </p:txBody>
      </p:sp>
      <p:sp>
        <p:nvSpPr>
          <p:cNvPr id="24" name="Text 22"/>
          <p:cNvSpPr/>
          <p:nvPr/>
        </p:nvSpPr>
        <p:spPr>
          <a:xfrm>
            <a:off x="274320" y="4873752"/>
            <a:ext cx="8595360" cy="274320"/>
          </a:xfrm>
          <a:prstGeom prst="rect">
            <a:avLst/>
          </a:prstGeom>
          <a:noFill/>
          <a:ln/>
        </p:spPr>
        <p:txBody>
          <a:bodyPr wrap="square" lIns="0" tIns="0" rIns="0" bIns="0" rtlCol="0" anchor="ctr"/>
          <a:lstStyle/>
          <a:p>
            <a:pPr marL="0" indent="0">
              <a:buNone/>
            </a:pPr>
            <a:r>
              <a:rPr lang="en-US" sz="800" dirty="0">
                <a:solidFill>
                  <a:srgbClr val="A0AEC0"/>
                </a:solidFill>
                <a:latin typeface="Calibri" pitchFamily="34" charset="0"/>
                <a:ea typeface="Calibri" pitchFamily="34" charset="-122"/>
                <a:cs typeface="Calibri" pitchFamily="34" charset="-120"/>
              </a:rPr>
              <a:t>Data Science Internship  |  CUMTA  |  Manoj Kumar D</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9F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C2951"/>
          </a:solidFill>
          <a:ln w="12700">
            <a:solidFill>
              <a:srgbClr val="1C2951"/>
            </a:solidFill>
            <a:prstDash val="solid"/>
          </a:ln>
        </p:spPr>
        <p:txBody>
          <a:bodyPr/>
          <a:lstStyle/>
          <a:p>
            <a:endParaRPr lang="en-US"/>
          </a:p>
        </p:txBody>
      </p:sp>
      <p:sp>
        <p:nvSpPr>
          <p:cNvPr id="3" name="Shape 1"/>
          <p:cNvSpPr/>
          <p:nvPr/>
        </p:nvSpPr>
        <p:spPr>
          <a:xfrm>
            <a:off x="0" y="1005840"/>
            <a:ext cx="9144000" cy="54864"/>
          </a:xfrm>
          <a:prstGeom prst="rect">
            <a:avLst/>
          </a:prstGeom>
          <a:solidFill>
            <a:srgbClr val="0D9488"/>
          </a:solidFill>
          <a:ln w="12700">
            <a:solidFill>
              <a:srgbClr val="0D9488"/>
            </a:solidFill>
            <a:prstDash val="solid"/>
          </a:ln>
        </p:spPr>
        <p:txBody>
          <a:bodyPr/>
          <a:lstStyle/>
          <a:p>
            <a:endParaRPr lang="en-US"/>
          </a:p>
        </p:txBody>
      </p:sp>
      <p:sp>
        <p:nvSpPr>
          <p:cNvPr id="4" name="Text 2"/>
          <p:cNvSpPr/>
          <p:nvPr/>
        </p:nvSpPr>
        <p:spPr>
          <a:xfrm>
            <a:off x="457200" y="0"/>
            <a:ext cx="8229600" cy="10058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Chapter 2  |  About the Company — CUMTA</a:t>
            </a:r>
            <a:endParaRPr lang="en-US" sz="2600" dirty="0"/>
          </a:p>
        </p:txBody>
      </p:sp>
      <p:sp>
        <p:nvSpPr>
          <p:cNvPr id="5" name="Shape 3"/>
          <p:cNvSpPr/>
          <p:nvPr/>
        </p:nvSpPr>
        <p:spPr>
          <a:xfrm>
            <a:off x="320040" y="1188720"/>
            <a:ext cx="5029200" cy="342900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320040" y="1188720"/>
            <a:ext cx="64008" cy="3429000"/>
          </a:xfrm>
          <a:prstGeom prst="rect">
            <a:avLst/>
          </a:prstGeom>
          <a:solidFill>
            <a:srgbClr val="0D9488"/>
          </a:solidFill>
          <a:ln w="12700">
            <a:solidFill>
              <a:srgbClr val="0D9488"/>
            </a:solidFill>
            <a:prstDash val="solid"/>
          </a:ln>
        </p:spPr>
        <p:txBody>
          <a:bodyPr/>
          <a:lstStyle/>
          <a:p>
            <a:endParaRPr lang="en-US"/>
          </a:p>
        </p:txBody>
      </p:sp>
      <p:sp>
        <p:nvSpPr>
          <p:cNvPr id="7" name="Text 5"/>
          <p:cNvSpPr/>
          <p:nvPr/>
        </p:nvSpPr>
        <p:spPr>
          <a:xfrm>
            <a:off x="530352" y="1261872"/>
            <a:ext cx="4663440" cy="365760"/>
          </a:xfrm>
          <a:prstGeom prst="rect">
            <a:avLst/>
          </a:prstGeom>
          <a:noFill/>
          <a:ln/>
        </p:spPr>
        <p:txBody>
          <a:bodyPr wrap="square" lIns="0" tIns="0" rIns="0" bIns="0" rtlCol="0" anchor="ctr"/>
          <a:lstStyle/>
          <a:p>
            <a:pPr marL="0" indent="0">
              <a:buNone/>
            </a:pPr>
            <a:r>
              <a:rPr lang="en-US" sz="1300" b="1" dirty="0">
                <a:solidFill>
                  <a:srgbClr val="1C2951"/>
                </a:solidFill>
                <a:latin typeface="Calibri" pitchFamily="34" charset="0"/>
                <a:ea typeface="Calibri" pitchFamily="34" charset="-122"/>
                <a:cs typeface="Calibri" pitchFamily="34" charset="-120"/>
              </a:rPr>
              <a:t>What is CUMTA?</a:t>
            </a:r>
            <a:endParaRPr lang="en-US" sz="1300" dirty="0"/>
          </a:p>
        </p:txBody>
      </p:sp>
      <p:sp>
        <p:nvSpPr>
          <p:cNvPr id="8" name="Text 6"/>
          <p:cNvSpPr/>
          <p:nvPr/>
        </p:nvSpPr>
        <p:spPr>
          <a:xfrm>
            <a:off x="530352" y="1664208"/>
            <a:ext cx="4663440" cy="137160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CUMTA is the nodal agency that brings together all agencies working in urban transport in Chennai, ensuring an integrated, collaborative, and efficient transport system.</a:t>
            </a:r>
            <a:endParaRPr lang="en-US" sz="1050" dirty="0"/>
          </a:p>
          <a:p>
            <a:pPr marL="0" indent="0">
              <a:buNone/>
            </a:pP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With CUMTA, transport planning becomes unified — cutting across metro, bus, suburban rail, and road agencies.</a:t>
            </a:r>
            <a:endParaRPr lang="en-US" sz="1050" dirty="0"/>
          </a:p>
        </p:txBody>
      </p:sp>
      <p:sp>
        <p:nvSpPr>
          <p:cNvPr id="9" name="Shape 7"/>
          <p:cNvSpPr/>
          <p:nvPr/>
        </p:nvSpPr>
        <p:spPr>
          <a:xfrm>
            <a:off x="5623560" y="1188720"/>
            <a:ext cx="3200400" cy="100584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0" name="Shape 8"/>
          <p:cNvSpPr/>
          <p:nvPr/>
        </p:nvSpPr>
        <p:spPr>
          <a:xfrm>
            <a:off x="5623560" y="1188720"/>
            <a:ext cx="64008" cy="1005840"/>
          </a:xfrm>
          <a:prstGeom prst="rect">
            <a:avLst/>
          </a:prstGeom>
          <a:solidFill>
            <a:srgbClr val="14B8A6"/>
          </a:solidFill>
          <a:ln w="12700">
            <a:solidFill>
              <a:srgbClr val="14B8A6"/>
            </a:solidFill>
            <a:prstDash val="solid"/>
          </a:ln>
        </p:spPr>
        <p:txBody>
          <a:bodyPr/>
          <a:lstStyle/>
          <a:p>
            <a:endParaRPr lang="en-US"/>
          </a:p>
        </p:txBody>
      </p:sp>
      <p:sp>
        <p:nvSpPr>
          <p:cNvPr id="11" name="Text 9"/>
          <p:cNvSpPr/>
          <p:nvPr/>
        </p:nvSpPr>
        <p:spPr>
          <a:xfrm>
            <a:off x="5833872" y="1252728"/>
            <a:ext cx="2834640" cy="274320"/>
          </a:xfrm>
          <a:prstGeom prst="rect">
            <a:avLst/>
          </a:prstGeom>
          <a:noFill/>
          <a:ln/>
        </p:spPr>
        <p:txBody>
          <a:bodyPr wrap="square" lIns="0" tIns="0" rIns="0" bIns="0" rtlCol="0" anchor="ctr"/>
          <a:lstStyle/>
          <a:p>
            <a:pPr marL="0" indent="0">
              <a:buNone/>
            </a:pPr>
            <a:r>
              <a:rPr lang="en-US" sz="1100" b="1" dirty="0">
                <a:solidFill>
                  <a:srgbClr val="1C2951"/>
                </a:solidFill>
                <a:latin typeface="Calibri" pitchFamily="34" charset="0"/>
                <a:ea typeface="Calibri" pitchFamily="34" charset="-122"/>
                <a:cs typeface="Calibri" pitchFamily="34" charset="-120"/>
              </a:rPr>
              <a:t>Coordination</a:t>
            </a:r>
            <a:endParaRPr lang="en-US" sz="1100" dirty="0"/>
          </a:p>
        </p:txBody>
      </p:sp>
      <p:sp>
        <p:nvSpPr>
          <p:cNvPr id="12" name="Text 10"/>
          <p:cNvSpPr/>
          <p:nvPr/>
        </p:nvSpPr>
        <p:spPr>
          <a:xfrm>
            <a:off x="5833872" y="1536192"/>
            <a:ext cx="2834640" cy="59436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Institutional coordination across all urban mobility agencies in Chennai.</a:t>
            </a:r>
            <a:endParaRPr lang="en-US" sz="950" dirty="0"/>
          </a:p>
        </p:txBody>
      </p:sp>
      <p:sp>
        <p:nvSpPr>
          <p:cNvPr id="13" name="Shape 11"/>
          <p:cNvSpPr/>
          <p:nvPr/>
        </p:nvSpPr>
        <p:spPr>
          <a:xfrm>
            <a:off x="5623560" y="2359152"/>
            <a:ext cx="3200400" cy="100584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4" name="Shape 12"/>
          <p:cNvSpPr/>
          <p:nvPr/>
        </p:nvSpPr>
        <p:spPr>
          <a:xfrm>
            <a:off x="5623560" y="2359152"/>
            <a:ext cx="64008" cy="1005840"/>
          </a:xfrm>
          <a:prstGeom prst="rect">
            <a:avLst/>
          </a:prstGeom>
          <a:solidFill>
            <a:srgbClr val="14B8A6"/>
          </a:solidFill>
          <a:ln w="12700">
            <a:solidFill>
              <a:srgbClr val="14B8A6"/>
            </a:solidFill>
            <a:prstDash val="solid"/>
          </a:ln>
        </p:spPr>
        <p:txBody>
          <a:bodyPr/>
          <a:lstStyle/>
          <a:p>
            <a:endParaRPr lang="en-US"/>
          </a:p>
        </p:txBody>
      </p:sp>
      <p:sp>
        <p:nvSpPr>
          <p:cNvPr id="15" name="Text 13"/>
          <p:cNvSpPr/>
          <p:nvPr/>
        </p:nvSpPr>
        <p:spPr>
          <a:xfrm>
            <a:off x="5833872" y="2423160"/>
            <a:ext cx="2834640" cy="274320"/>
          </a:xfrm>
          <a:prstGeom prst="rect">
            <a:avLst/>
          </a:prstGeom>
          <a:noFill/>
          <a:ln/>
        </p:spPr>
        <p:txBody>
          <a:bodyPr wrap="square" lIns="0" tIns="0" rIns="0" bIns="0" rtlCol="0" anchor="ctr"/>
          <a:lstStyle/>
          <a:p>
            <a:pPr marL="0" indent="0">
              <a:buNone/>
            </a:pPr>
            <a:r>
              <a:rPr lang="en-US" sz="1100" b="1" dirty="0">
                <a:solidFill>
                  <a:srgbClr val="1C2951"/>
                </a:solidFill>
                <a:latin typeface="Calibri" pitchFamily="34" charset="0"/>
                <a:ea typeface="Calibri" pitchFamily="34" charset="-122"/>
                <a:cs typeface="Calibri" pitchFamily="34" charset="-120"/>
              </a:rPr>
              <a:t>Management</a:t>
            </a:r>
            <a:endParaRPr lang="en-US" sz="1100" dirty="0"/>
          </a:p>
        </p:txBody>
      </p:sp>
      <p:sp>
        <p:nvSpPr>
          <p:cNvPr id="16" name="Text 14"/>
          <p:cNvSpPr/>
          <p:nvPr/>
        </p:nvSpPr>
        <p:spPr>
          <a:xfrm>
            <a:off x="5833872" y="2706624"/>
            <a:ext cx="2834640" cy="59436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Strategic planning, project implementation &amp; monitoring of urban transport systems.</a:t>
            </a:r>
            <a:endParaRPr lang="en-US" sz="950" dirty="0"/>
          </a:p>
        </p:txBody>
      </p:sp>
      <p:sp>
        <p:nvSpPr>
          <p:cNvPr id="17" name="Shape 15"/>
          <p:cNvSpPr/>
          <p:nvPr/>
        </p:nvSpPr>
        <p:spPr>
          <a:xfrm>
            <a:off x="5623560" y="3529584"/>
            <a:ext cx="3200400" cy="100584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8" name="Shape 16"/>
          <p:cNvSpPr/>
          <p:nvPr/>
        </p:nvSpPr>
        <p:spPr>
          <a:xfrm>
            <a:off x="5623560" y="3529584"/>
            <a:ext cx="64008" cy="1005840"/>
          </a:xfrm>
          <a:prstGeom prst="rect">
            <a:avLst/>
          </a:prstGeom>
          <a:solidFill>
            <a:srgbClr val="14B8A6"/>
          </a:solidFill>
          <a:ln w="12700">
            <a:solidFill>
              <a:srgbClr val="14B8A6"/>
            </a:solidFill>
            <a:prstDash val="solid"/>
          </a:ln>
        </p:spPr>
        <p:txBody>
          <a:bodyPr/>
          <a:lstStyle/>
          <a:p>
            <a:endParaRPr lang="en-US"/>
          </a:p>
        </p:txBody>
      </p:sp>
      <p:sp>
        <p:nvSpPr>
          <p:cNvPr id="19" name="Text 17"/>
          <p:cNvSpPr/>
          <p:nvPr/>
        </p:nvSpPr>
        <p:spPr>
          <a:xfrm>
            <a:off x="5833872" y="3593592"/>
            <a:ext cx="2834640" cy="274320"/>
          </a:xfrm>
          <a:prstGeom prst="rect">
            <a:avLst/>
          </a:prstGeom>
          <a:noFill/>
          <a:ln/>
        </p:spPr>
        <p:txBody>
          <a:bodyPr wrap="square" lIns="0" tIns="0" rIns="0" bIns="0" rtlCol="0" anchor="ctr"/>
          <a:lstStyle/>
          <a:p>
            <a:pPr marL="0" indent="0">
              <a:buNone/>
            </a:pPr>
            <a:r>
              <a:rPr lang="en-US" sz="1100" b="1" dirty="0">
                <a:solidFill>
                  <a:srgbClr val="1C2951"/>
                </a:solidFill>
                <a:latin typeface="Calibri" pitchFamily="34" charset="0"/>
                <a:ea typeface="Calibri" pitchFamily="34" charset="-122"/>
                <a:cs typeface="Calibri" pitchFamily="34" charset="-120"/>
              </a:rPr>
              <a:t>Safety</a:t>
            </a:r>
            <a:endParaRPr lang="en-US" sz="1100" dirty="0"/>
          </a:p>
        </p:txBody>
      </p:sp>
      <p:sp>
        <p:nvSpPr>
          <p:cNvPr id="20" name="Text 18"/>
          <p:cNvSpPr/>
          <p:nvPr/>
        </p:nvSpPr>
        <p:spPr>
          <a:xfrm>
            <a:off x="5833872" y="3877056"/>
            <a:ext cx="2834640" cy="59436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Regulate measures to reduce accidents and improve road safety standards.</a:t>
            </a:r>
            <a:endParaRPr lang="en-US" sz="950" dirty="0"/>
          </a:p>
        </p:txBody>
      </p:sp>
      <p:sp>
        <p:nvSpPr>
          <p:cNvPr id="21" name="Shape 19"/>
          <p:cNvSpPr/>
          <p:nvPr/>
        </p:nvSpPr>
        <p:spPr>
          <a:xfrm>
            <a:off x="320040" y="4617720"/>
            <a:ext cx="8503920" cy="320040"/>
          </a:xfrm>
          <a:prstGeom prst="rect">
            <a:avLst/>
          </a:prstGeom>
          <a:solidFill>
            <a:srgbClr val="1C2951"/>
          </a:solidFill>
          <a:ln w="12700">
            <a:solidFill>
              <a:srgbClr val="1C2951"/>
            </a:solidFill>
            <a:prstDash val="solid"/>
          </a:ln>
        </p:spPr>
        <p:txBody>
          <a:bodyPr/>
          <a:lstStyle/>
          <a:p>
            <a:endParaRPr lang="en-US"/>
          </a:p>
        </p:txBody>
      </p:sp>
      <p:sp>
        <p:nvSpPr>
          <p:cNvPr id="22" name="Shape 20"/>
          <p:cNvSpPr/>
          <p:nvPr/>
        </p:nvSpPr>
        <p:spPr>
          <a:xfrm>
            <a:off x="0" y="4873752"/>
            <a:ext cx="9144000" cy="274320"/>
          </a:xfrm>
          <a:prstGeom prst="rect">
            <a:avLst/>
          </a:prstGeom>
          <a:solidFill>
            <a:srgbClr val="1C2951"/>
          </a:solidFill>
          <a:ln w="12700">
            <a:solidFill>
              <a:srgbClr val="1C2951"/>
            </a:solidFill>
            <a:prstDash val="solid"/>
          </a:ln>
        </p:spPr>
        <p:txBody>
          <a:bodyPr/>
          <a:lstStyle/>
          <a:p>
            <a:endParaRPr lang="en-US"/>
          </a:p>
        </p:txBody>
      </p:sp>
      <p:sp>
        <p:nvSpPr>
          <p:cNvPr id="23" name="Text 21"/>
          <p:cNvSpPr/>
          <p:nvPr/>
        </p:nvSpPr>
        <p:spPr>
          <a:xfrm>
            <a:off x="274320" y="4873752"/>
            <a:ext cx="8595360" cy="274320"/>
          </a:xfrm>
          <a:prstGeom prst="rect">
            <a:avLst/>
          </a:prstGeom>
          <a:noFill/>
          <a:ln/>
        </p:spPr>
        <p:txBody>
          <a:bodyPr wrap="square" lIns="0" tIns="0" rIns="0" bIns="0" rtlCol="0" anchor="ctr"/>
          <a:lstStyle/>
          <a:p>
            <a:pPr marL="0" indent="0">
              <a:buNone/>
            </a:pPr>
            <a:r>
              <a:rPr lang="en-US" sz="800" dirty="0">
                <a:solidFill>
                  <a:srgbClr val="A0AEC0"/>
                </a:solidFill>
                <a:latin typeface="Calibri" pitchFamily="34" charset="0"/>
                <a:ea typeface="Calibri" pitchFamily="34" charset="-122"/>
                <a:cs typeface="Calibri" pitchFamily="34" charset="-120"/>
              </a:rPr>
              <a:t>Data Science Internship  |  CUMTA  |  Manoj Kumar D</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9F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C2951"/>
          </a:solidFill>
          <a:ln w="12700">
            <a:solidFill>
              <a:srgbClr val="1C2951"/>
            </a:solidFill>
            <a:prstDash val="solid"/>
          </a:ln>
        </p:spPr>
        <p:txBody>
          <a:bodyPr/>
          <a:lstStyle/>
          <a:p>
            <a:endParaRPr lang="en-US"/>
          </a:p>
        </p:txBody>
      </p:sp>
      <p:sp>
        <p:nvSpPr>
          <p:cNvPr id="3" name="Shape 1"/>
          <p:cNvSpPr/>
          <p:nvPr/>
        </p:nvSpPr>
        <p:spPr>
          <a:xfrm>
            <a:off x="0" y="1005840"/>
            <a:ext cx="9144000" cy="54864"/>
          </a:xfrm>
          <a:prstGeom prst="rect">
            <a:avLst/>
          </a:prstGeom>
          <a:solidFill>
            <a:srgbClr val="0D9488"/>
          </a:solidFill>
          <a:ln w="12700">
            <a:solidFill>
              <a:srgbClr val="0D9488"/>
            </a:solidFill>
            <a:prstDash val="solid"/>
          </a:ln>
        </p:spPr>
        <p:txBody>
          <a:bodyPr/>
          <a:lstStyle/>
          <a:p>
            <a:endParaRPr lang="en-US"/>
          </a:p>
        </p:txBody>
      </p:sp>
      <p:sp>
        <p:nvSpPr>
          <p:cNvPr id="4" name="Text 2"/>
          <p:cNvSpPr/>
          <p:nvPr/>
        </p:nvSpPr>
        <p:spPr>
          <a:xfrm>
            <a:off x="457200" y="0"/>
            <a:ext cx="8229600" cy="10058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Chapter 3  |  About the Internship</a:t>
            </a:r>
            <a:endParaRPr lang="en-US" sz="2600" dirty="0"/>
          </a:p>
        </p:txBody>
      </p:sp>
      <p:sp>
        <p:nvSpPr>
          <p:cNvPr id="5" name="Shape 3"/>
          <p:cNvSpPr/>
          <p:nvPr/>
        </p:nvSpPr>
        <p:spPr>
          <a:xfrm>
            <a:off x="320040" y="1188720"/>
            <a:ext cx="3474720" cy="3474720"/>
          </a:xfrm>
          <a:prstGeom prst="rect">
            <a:avLst/>
          </a:prstGeom>
          <a:solidFill>
            <a:srgbClr val="1C2951"/>
          </a:solidFill>
          <a:ln w="12700">
            <a:solidFill>
              <a:srgbClr val="1C2951"/>
            </a:solidFill>
            <a:prstDash val="solid"/>
          </a:ln>
          <a:effectLst>
            <a:outerShdw blurRad="101600" dist="38100" dir="8100000" algn="bl" rotWithShape="0">
              <a:srgbClr val="000000">
                <a:alpha val="12000"/>
              </a:srgbClr>
            </a:outerShdw>
          </a:effectLst>
        </p:spPr>
        <p:txBody>
          <a:bodyPr/>
          <a:lstStyle/>
          <a:p>
            <a:endParaRPr lang="en-US"/>
          </a:p>
        </p:txBody>
      </p:sp>
      <p:sp>
        <p:nvSpPr>
          <p:cNvPr id="6" name="Text 4"/>
          <p:cNvSpPr/>
          <p:nvPr/>
        </p:nvSpPr>
        <p:spPr>
          <a:xfrm>
            <a:off x="502920" y="1280160"/>
            <a:ext cx="3108960" cy="347472"/>
          </a:xfrm>
          <a:prstGeom prst="rect">
            <a:avLst/>
          </a:prstGeom>
          <a:noFill/>
          <a:ln/>
        </p:spPr>
        <p:txBody>
          <a:bodyPr wrap="square" lIns="0" tIns="0" rIns="0" bIns="0" rtlCol="0" anchor="ctr"/>
          <a:lstStyle/>
          <a:p>
            <a:pPr marL="0" indent="0">
              <a:buNone/>
            </a:pPr>
            <a:r>
              <a:rPr lang="en-US" sz="1100" b="1" kern="0" spc="200" dirty="0">
                <a:solidFill>
                  <a:srgbClr val="14B8A6"/>
                </a:solidFill>
                <a:latin typeface="Calibri" pitchFamily="34" charset="0"/>
                <a:ea typeface="Calibri" pitchFamily="34" charset="-122"/>
                <a:cs typeface="Calibri" pitchFamily="34" charset="-120"/>
              </a:rPr>
              <a:t>INTERNSHIP DETAILS</a:t>
            </a:r>
            <a:endParaRPr lang="en-US" sz="1100" dirty="0"/>
          </a:p>
        </p:txBody>
      </p:sp>
      <p:sp>
        <p:nvSpPr>
          <p:cNvPr id="7" name="Text 5"/>
          <p:cNvSpPr/>
          <p:nvPr/>
        </p:nvSpPr>
        <p:spPr>
          <a:xfrm>
            <a:off x="502920" y="1691640"/>
            <a:ext cx="1097280" cy="228600"/>
          </a:xfrm>
          <a:prstGeom prst="rect">
            <a:avLst/>
          </a:prstGeom>
          <a:noFill/>
          <a:ln/>
        </p:spPr>
        <p:txBody>
          <a:bodyPr wrap="square" lIns="0" tIns="0" rIns="0" bIns="0" rtlCol="0" anchor="ctr"/>
          <a:lstStyle/>
          <a:p>
            <a:pPr marL="0" indent="0">
              <a:buNone/>
            </a:pPr>
            <a:r>
              <a:rPr lang="en-US" sz="800" kern="0" spc="100" dirty="0">
                <a:solidFill>
                  <a:srgbClr val="94A3B8"/>
                </a:solidFill>
                <a:latin typeface="Calibri" pitchFamily="34" charset="0"/>
                <a:ea typeface="Calibri" pitchFamily="34" charset="-122"/>
                <a:cs typeface="Calibri" pitchFamily="34" charset="-120"/>
              </a:rPr>
              <a:t>TITLE</a:t>
            </a:r>
            <a:endParaRPr lang="en-US" sz="800" dirty="0"/>
          </a:p>
        </p:txBody>
      </p:sp>
      <p:sp>
        <p:nvSpPr>
          <p:cNvPr id="8" name="Text 6"/>
          <p:cNvSpPr/>
          <p:nvPr/>
        </p:nvSpPr>
        <p:spPr>
          <a:xfrm>
            <a:off x="502920" y="1920240"/>
            <a:ext cx="310896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Website Developer / Data Science</a:t>
            </a:r>
            <a:endParaRPr lang="en-US" sz="1100" dirty="0"/>
          </a:p>
        </p:txBody>
      </p:sp>
      <p:sp>
        <p:nvSpPr>
          <p:cNvPr id="9" name="Text 7"/>
          <p:cNvSpPr/>
          <p:nvPr/>
        </p:nvSpPr>
        <p:spPr>
          <a:xfrm>
            <a:off x="502920" y="2258568"/>
            <a:ext cx="1097280" cy="228600"/>
          </a:xfrm>
          <a:prstGeom prst="rect">
            <a:avLst/>
          </a:prstGeom>
          <a:noFill/>
          <a:ln/>
        </p:spPr>
        <p:txBody>
          <a:bodyPr wrap="square" lIns="0" tIns="0" rIns="0" bIns="0" rtlCol="0" anchor="ctr"/>
          <a:lstStyle/>
          <a:p>
            <a:pPr marL="0" indent="0">
              <a:buNone/>
            </a:pPr>
            <a:r>
              <a:rPr lang="en-US" sz="800" kern="0" spc="100" dirty="0">
                <a:solidFill>
                  <a:srgbClr val="94A3B8"/>
                </a:solidFill>
                <a:latin typeface="Calibri" pitchFamily="34" charset="0"/>
                <a:ea typeface="Calibri" pitchFamily="34" charset="-122"/>
                <a:cs typeface="Calibri" pitchFamily="34" charset="-120"/>
              </a:rPr>
              <a:t>PERIOD</a:t>
            </a:r>
            <a:endParaRPr lang="en-US" sz="800" dirty="0"/>
          </a:p>
        </p:txBody>
      </p:sp>
      <p:sp>
        <p:nvSpPr>
          <p:cNvPr id="10" name="Text 8"/>
          <p:cNvSpPr/>
          <p:nvPr/>
        </p:nvSpPr>
        <p:spPr>
          <a:xfrm>
            <a:off x="502920" y="2487168"/>
            <a:ext cx="310896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01 Jun 2024 – 30 Aug 2024</a:t>
            </a:r>
            <a:endParaRPr lang="en-US" sz="1100" dirty="0"/>
          </a:p>
        </p:txBody>
      </p:sp>
      <p:sp>
        <p:nvSpPr>
          <p:cNvPr id="11" name="Text 9"/>
          <p:cNvSpPr/>
          <p:nvPr/>
        </p:nvSpPr>
        <p:spPr>
          <a:xfrm>
            <a:off x="502920" y="2825496"/>
            <a:ext cx="1097280" cy="228600"/>
          </a:xfrm>
          <a:prstGeom prst="rect">
            <a:avLst/>
          </a:prstGeom>
          <a:noFill/>
          <a:ln/>
        </p:spPr>
        <p:txBody>
          <a:bodyPr wrap="square" lIns="0" tIns="0" rIns="0" bIns="0" rtlCol="0" anchor="ctr"/>
          <a:lstStyle/>
          <a:p>
            <a:pPr marL="0" indent="0">
              <a:buNone/>
            </a:pPr>
            <a:r>
              <a:rPr lang="en-US" sz="800" kern="0" spc="100" dirty="0">
                <a:solidFill>
                  <a:srgbClr val="94A3B8"/>
                </a:solidFill>
                <a:latin typeface="Calibri" pitchFamily="34" charset="0"/>
                <a:ea typeface="Calibri" pitchFamily="34" charset="-122"/>
                <a:cs typeface="Calibri" pitchFamily="34" charset="-120"/>
              </a:rPr>
              <a:t>DURATION</a:t>
            </a:r>
            <a:endParaRPr lang="en-US" sz="800" dirty="0"/>
          </a:p>
        </p:txBody>
      </p:sp>
      <p:sp>
        <p:nvSpPr>
          <p:cNvPr id="12" name="Text 10"/>
          <p:cNvSpPr/>
          <p:nvPr/>
        </p:nvSpPr>
        <p:spPr>
          <a:xfrm>
            <a:off x="502920" y="3054096"/>
            <a:ext cx="310896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90 Days</a:t>
            </a:r>
            <a:endParaRPr lang="en-US" sz="1100" dirty="0"/>
          </a:p>
        </p:txBody>
      </p:sp>
      <p:sp>
        <p:nvSpPr>
          <p:cNvPr id="13" name="Text 11"/>
          <p:cNvSpPr/>
          <p:nvPr/>
        </p:nvSpPr>
        <p:spPr>
          <a:xfrm>
            <a:off x="502920" y="3392424"/>
            <a:ext cx="1097280" cy="228600"/>
          </a:xfrm>
          <a:prstGeom prst="rect">
            <a:avLst/>
          </a:prstGeom>
          <a:noFill/>
          <a:ln/>
        </p:spPr>
        <p:txBody>
          <a:bodyPr wrap="square" lIns="0" tIns="0" rIns="0" bIns="0" rtlCol="0" anchor="ctr"/>
          <a:lstStyle/>
          <a:p>
            <a:pPr marL="0" indent="0">
              <a:buNone/>
            </a:pPr>
            <a:r>
              <a:rPr lang="en-US" sz="800" kern="0" spc="100" dirty="0">
                <a:solidFill>
                  <a:srgbClr val="94A3B8"/>
                </a:solidFill>
                <a:latin typeface="Calibri" pitchFamily="34" charset="0"/>
                <a:ea typeface="Calibri" pitchFamily="34" charset="-122"/>
                <a:cs typeface="Calibri" pitchFamily="34" charset="-120"/>
              </a:rPr>
              <a:t>MODE</a:t>
            </a:r>
            <a:endParaRPr lang="en-US" sz="800" dirty="0"/>
          </a:p>
        </p:txBody>
      </p:sp>
      <p:sp>
        <p:nvSpPr>
          <p:cNvPr id="14" name="Text 12"/>
          <p:cNvSpPr/>
          <p:nvPr/>
        </p:nvSpPr>
        <p:spPr>
          <a:xfrm>
            <a:off x="502920" y="3621024"/>
            <a:ext cx="310896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Hybrid</a:t>
            </a:r>
            <a:endParaRPr lang="en-US" sz="1100" dirty="0"/>
          </a:p>
        </p:txBody>
      </p:sp>
      <p:sp>
        <p:nvSpPr>
          <p:cNvPr id="15" name="Text 13"/>
          <p:cNvSpPr/>
          <p:nvPr/>
        </p:nvSpPr>
        <p:spPr>
          <a:xfrm>
            <a:off x="502920" y="3959352"/>
            <a:ext cx="1097280" cy="228600"/>
          </a:xfrm>
          <a:prstGeom prst="rect">
            <a:avLst/>
          </a:prstGeom>
          <a:noFill/>
          <a:ln/>
        </p:spPr>
        <p:txBody>
          <a:bodyPr wrap="square" lIns="0" tIns="0" rIns="0" bIns="0" rtlCol="0" anchor="ctr"/>
          <a:lstStyle/>
          <a:p>
            <a:pPr marL="0" indent="0">
              <a:buNone/>
            </a:pPr>
            <a:r>
              <a:rPr lang="en-US" sz="800" kern="0" spc="100" dirty="0">
                <a:solidFill>
                  <a:srgbClr val="94A3B8"/>
                </a:solidFill>
                <a:latin typeface="Calibri" pitchFamily="34" charset="0"/>
                <a:ea typeface="Calibri" pitchFamily="34" charset="-122"/>
                <a:cs typeface="Calibri" pitchFamily="34" charset="-120"/>
              </a:rPr>
              <a:t>ORGANIZATION</a:t>
            </a:r>
            <a:endParaRPr lang="en-US" sz="800" dirty="0"/>
          </a:p>
        </p:txBody>
      </p:sp>
      <p:sp>
        <p:nvSpPr>
          <p:cNvPr id="16" name="Text 14"/>
          <p:cNvSpPr/>
          <p:nvPr/>
        </p:nvSpPr>
        <p:spPr>
          <a:xfrm>
            <a:off x="502920" y="4187952"/>
            <a:ext cx="310896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CUMTA, Chennai</a:t>
            </a:r>
            <a:endParaRPr lang="en-US" sz="1100" dirty="0"/>
          </a:p>
        </p:txBody>
      </p:sp>
      <p:sp>
        <p:nvSpPr>
          <p:cNvPr id="17" name="Text 15"/>
          <p:cNvSpPr/>
          <p:nvPr/>
        </p:nvSpPr>
        <p:spPr>
          <a:xfrm>
            <a:off x="4069080" y="1188720"/>
            <a:ext cx="4754880" cy="320040"/>
          </a:xfrm>
          <a:prstGeom prst="rect">
            <a:avLst/>
          </a:prstGeom>
          <a:noFill/>
          <a:ln/>
        </p:spPr>
        <p:txBody>
          <a:bodyPr wrap="square" lIns="0" tIns="0" rIns="0" bIns="0" rtlCol="0" anchor="ctr"/>
          <a:lstStyle/>
          <a:p>
            <a:pPr marL="0" indent="0">
              <a:buNone/>
            </a:pPr>
            <a:r>
              <a:rPr lang="en-US" sz="1100" b="1" kern="0" spc="200" dirty="0">
                <a:solidFill>
                  <a:srgbClr val="0D9488"/>
                </a:solidFill>
                <a:latin typeface="Calibri" pitchFamily="34" charset="0"/>
                <a:ea typeface="Calibri" pitchFamily="34" charset="-122"/>
                <a:cs typeface="Calibri" pitchFamily="34" charset="-120"/>
              </a:rPr>
              <a:t>OBJECTIVES</a:t>
            </a:r>
            <a:endParaRPr lang="en-US" sz="1100" dirty="0"/>
          </a:p>
        </p:txBody>
      </p:sp>
      <p:sp>
        <p:nvSpPr>
          <p:cNvPr id="18" name="Shape 16"/>
          <p:cNvSpPr/>
          <p:nvPr/>
        </p:nvSpPr>
        <p:spPr>
          <a:xfrm>
            <a:off x="4069080" y="1600200"/>
            <a:ext cx="4754880" cy="530352"/>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9" name="Shape 17"/>
          <p:cNvSpPr/>
          <p:nvPr/>
        </p:nvSpPr>
        <p:spPr>
          <a:xfrm>
            <a:off x="4069080" y="1600200"/>
            <a:ext cx="64008" cy="530352"/>
          </a:xfrm>
          <a:prstGeom prst="rect">
            <a:avLst/>
          </a:prstGeom>
          <a:solidFill>
            <a:srgbClr val="0D9488"/>
          </a:solidFill>
          <a:ln w="12700">
            <a:solidFill>
              <a:srgbClr val="0D9488"/>
            </a:solidFill>
            <a:prstDash val="solid"/>
          </a:ln>
        </p:spPr>
        <p:txBody>
          <a:bodyPr/>
          <a:lstStyle/>
          <a:p>
            <a:endParaRPr lang="en-US"/>
          </a:p>
        </p:txBody>
      </p:sp>
      <p:sp>
        <p:nvSpPr>
          <p:cNvPr id="20" name="Text 18"/>
          <p:cNvSpPr/>
          <p:nvPr/>
        </p:nvSpPr>
        <p:spPr>
          <a:xfrm>
            <a:off x="4279392" y="1682496"/>
            <a:ext cx="4389120" cy="38404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Clean and preprocess traffic datasets using Python &amp; Pandas.</a:t>
            </a:r>
            <a:endParaRPr lang="en-US" sz="1000" dirty="0"/>
          </a:p>
        </p:txBody>
      </p:sp>
      <p:sp>
        <p:nvSpPr>
          <p:cNvPr id="21" name="Shape 19"/>
          <p:cNvSpPr/>
          <p:nvPr/>
        </p:nvSpPr>
        <p:spPr>
          <a:xfrm>
            <a:off x="4069080" y="2221992"/>
            <a:ext cx="4754880" cy="530352"/>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2" name="Shape 20"/>
          <p:cNvSpPr/>
          <p:nvPr/>
        </p:nvSpPr>
        <p:spPr>
          <a:xfrm>
            <a:off x="4069080" y="2221992"/>
            <a:ext cx="64008" cy="530352"/>
          </a:xfrm>
          <a:prstGeom prst="rect">
            <a:avLst/>
          </a:prstGeom>
          <a:solidFill>
            <a:srgbClr val="0D9488"/>
          </a:solidFill>
          <a:ln w="12700">
            <a:solidFill>
              <a:srgbClr val="0D9488"/>
            </a:solidFill>
            <a:prstDash val="solid"/>
          </a:ln>
        </p:spPr>
        <p:txBody>
          <a:bodyPr/>
          <a:lstStyle/>
          <a:p>
            <a:endParaRPr lang="en-US"/>
          </a:p>
        </p:txBody>
      </p:sp>
      <p:sp>
        <p:nvSpPr>
          <p:cNvPr id="23" name="Text 21"/>
          <p:cNvSpPr/>
          <p:nvPr/>
        </p:nvSpPr>
        <p:spPr>
          <a:xfrm>
            <a:off x="4279392" y="2304288"/>
            <a:ext cx="4389120" cy="38404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Build interactive traffic dashboards using Tableau.</a:t>
            </a:r>
            <a:endParaRPr lang="en-US" sz="1000" dirty="0"/>
          </a:p>
        </p:txBody>
      </p:sp>
      <p:sp>
        <p:nvSpPr>
          <p:cNvPr id="24" name="Shape 22"/>
          <p:cNvSpPr/>
          <p:nvPr/>
        </p:nvSpPr>
        <p:spPr>
          <a:xfrm>
            <a:off x="4069080" y="2843784"/>
            <a:ext cx="4754880" cy="530352"/>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5" name="Shape 23"/>
          <p:cNvSpPr/>
          <p:nvPr/>
        </p:nvSpPr>
        <p:spPr>
          <a:xfrm>
            <a:off x="4069080" y="2843784"/>
            <a:ext cx="64008" cy="530352"/>
          </a:xfrm>
          <a:prstGeom prst="rect">
            <a:avLst/>
          </a:prstGeom>
          <a:solidFill>
            <a:srgbClr val="0D9488"/>
          </a:solidFill>
          <a:ln w="12700">
            <a:solidFill>
              <a:srgbClr val="0D9488"/>
            </a:solidFill>
            <a:prstDash val="solid"/>
          </a:ln>
        </p:spPr>
        <p:txBody>
          <a:bodyPr/>
          <a:lstStyle/>
          <a:p>
            <a:endParaRPr lang="en-US"/>
          </a:p>
        </p:txBody>
      </p:sp>
      <p:sp>
        <p:nvSpPr>
          <p:cNvPr id="26" name="Text 24"/>
          <p:cNvSpPr/>
          <p:nvPr/>
        </p:nvSpPr>
        <p:spPr>
          <a:xfrm>
            <a:off x="4279392" y="2926080"/>
            <a:ext cx="4389120" cy="38404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Develop Flask-based REST APIs for data retrieval and management.</a:t>
            </a:r>
            <a:endParaRPr lang="en-US" sz="1000" dirty="0"/>
          </a:p>
        </p:txBody>
      </p:sp>
      <p:sp>
        <p:nvSpPr>
          <p:cNvPr id="27" name="Shape 25"/>
          <p:cNvSpPr/>
          <p:nvPr/>
        </p:nvSpPr>
        <p:spPr>
          <a:xfrm>
            <a:off x="4069080" y="3465576"/>
            <a:ext cx="4754880" cy="530352"/>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8" name="Shape 26"/>
          <p:cNvSpPr/>
          <p:nvPr/>
        </p:nvSpPr>
        <p:spPr>
          <a:xfrm>
            <a:off x="4069080" y="3465576"/>
            <a:ext cx="64008" cy="530352"/>
          </a:xfrm>
          <a:prstGeom prst="rect">
            <a:avLst/>
          </a:prstGeom>
          <a:solidFill>
            <a:srgbClr val="0D9488"/>
          </a:solidFill>
          <a:ln w="12700">
            <a:solidFill>
              <a:srgbClr val="0D9488"/>
            </a:solidFill>
            <a:prstDash val="solid"/>
          </a:ln>
        </p:spPr>
        <p:txBody>
          <a:bodyPr/>
          <a:lstStyle/>
          <a:p>
            <a:endParaRPr lang="en-US"/>
          </a:p>
        </p:txBody>
      </p:sp>
      <p:sp>
        <p:nvSpPr>
          <p:cNvPr id="29" name="Text 27"/>
          <p:cNvSpPr/>
          <p:nvPr/>
        </p:nvSpPr>
        <p:spPr>
          <a:xfrm>
            <a:off x="4279392" y="3547872"/>
            <a:ext cx="4389120" cy="38404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Perform image annotation using Roboflow for AI-based vehicle detection.</a:t>
            </a:r>
            <a:endParaRPr lang="en-US" sz="1000" dirty="0"/>
          </a:p>
        </p:txBody>
      </p:sp>
      <p:sp>
        <p:nvSpPr>
          <p:cNvPr id="30" name="Shape 28"/>
          <p:cNvSpPr/>
          <p:nvPr/>
        </p:nvSpPr>
        <p:spPr>
          <a:xfrm>
            <a:off x="4069080" y="4087368"/>
            <a:ext cx="4754880" cy="530352"/>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31" name="Shape 29"/>
          <p:cNvSpPr/>
          <p:nvPr/>
        </p:nvSpPr>
        <p:spPr>
          <a:xfrm>
            <a:off x="4069080" y="4087368"/>
            <a:ext cx="64008" cy="530352"/>
          </a:xfrm>
          <a:prstGeom prst="rect">
            <a:avLst/>
          </a:prstGeom>
          <a:solidFill>
            <a:srgbClr val="0D9488"/>
          </a:solidFill>
          <a:ln w="12700">
            <a:solidFill>
              <a:srgbClr val="0D9488"/>
            </a:solidFill>
            <a:prstDash val="solid"/>
          </a:ln>
        </p:spPr>
        <p:txBody>
          <a:bodyPr/>
          <a:lstStyle/>
          <a:p>
            <a:endParaRPr lang="en-US"/>
          </a:p>
        </p:txBody>
      </p:sp>
      <p:sp>
        <p:nvSpPr>
          <p:cNvPr id="32" name="Text 30"/>
          <p:cNvSpPr/>
          <p:nvPr/>
        </p:nvSpPr>
        <p:spPr>
          <a:xfrm>
            <a:off x="4279392" y="4169664"/>
            <a:ext cx="4389120" cy="38404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Contribute to CUMTA's smart city digital infrastructure.</a:t>
            </a:r>
            <a:endParaRPr lang="en-US" sz="1000" dirty="0"/>
          </a:p>
        </p:txBody>
      </p:sp>
      <p:sp>
        <p:nvSpPr>
          <p:cNvPr id="33" name="Shape 31"/>
          <p:cNvSpPr/>
          <p:nvPr/>
        </p:nvSpPr>
        <p:spPr>
          <a:xfrm>
            <a:off x="0" y="4873752"/>
            <a:ext cx="9144000" cy="274320"/>
          </a:xfrm>
          <a:prstGeom prst="rect">
            <a:avLst/>
          </a:prstGeom>
          <a:solidFill>
            <a:srgbClr val="1C2951"/>
          </a:solidFill>
          <a:ln w="12700">
            <a:solidFill>
              <a:srgbClr val="1C2951"/>
            </a:solidFill>
            <a:prstDash val="solid"/>
          </a:ln>
        </p:spPr>
        <p:txBody>
          <a:bodyPr/>
          <a:lstStyle/>
          <a:p>
            <a:endParaRPr lang="en-US"/>
          </a:p>
        </p:txBody>
      </p:sp>
      <p:sp>
        <p:nvSpPr>
          <p:cNvPr id="34" name="Text 32"/>
          <p:cNvSpPr/>
          <p:nvPr/>
        </p:nvSpPr>
        <p:spPr>
          <a:xfrm>
            <a:off x="274320" y="4873752"/>
            <a:ext cx="8595360" cy="274320"/>
          </a:xfrm>
          <a:prstGeom prst="rect">
            <a:avLst/>
          </a:prstGeom>
          <a:noFill/>
          <a:ln/>
        </p:spPr>
        <p:txBody>
          <a:bodyPr wrap="square" lIns="0" tIns="0" rIns="0" bIns="0" rtlCol="0" anchor="ctr"/>
          <a:lstStyle/>
          <a:p>
            <a:pPr marL="0" indent="0">
              <a:buNone/>
            </a:pPr>
            <a:r>
              <a:rPr lang="en-US" sz="800" dirty="0">
                <a:solidFill>
                  <a:srgbClr val="A0AEC0"/>
                </a:solidFill>
                <a:latin typeface="Calibri" pitchFamily="34" charset="0"/>
                <a:ea typeface="Calibri" pitchFamily="34" charset="-122"/>
                <a:cs typeface="Calibri" pitchFamily="34" charset="-120"/>
              </a:rPr>
              <a:t>Data Science Internship  |  CUMTA  |  Manoj Kumar D</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9F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C2951"/>
          </a:solidFill>
          <a:ln w="12700">
            <a:solidFill>
              <a:srgbClr val="1C2951"/>
            </a:solidFill>
            <a:prstDash val="solid"/>
          </a:ln>
        </p:spPr>
        <p:txBody>
          <a:bodyPr/>
          <a:lstStyle/>
          <a:p>
            <a:endParaRPr lang="en-US"/>
          </a:p>
        </p:txBody>
      </p:sp>
      <p:sp>
        <p:nvSpPr>
          <p:cNvPr id="3" name="Shape 1"/>
          <p:cNvSpPr/>
          <p:nvPr/>
        </p:nvSpPr>
        <p:spPr>
          <a:xfrm>
            <a:off x="0" y="1005840"/>
            <a:ext cx="9144000" cy="54864"/>
          </a:xfrm>
          <a:prstGeom prst="rect">
            <a:avLst/>
          </a:prstGeom>
          <a:solidFill>
            <a:srgbClr val="0D9488"/>
          </a:solidFill>
          <a:ln w="12700">
            <a:solidFill>
              <a:srgbClr val="0D9488"/>
            </a:solidFill>
            <a:prstDash val="solid"/>
          </a:ln>
        </p:spPr>
        <p:txBody>
          <a:bodyPr/>
          <a:lstStyle/>
          <a:p>
            <a:endParaRPr lang="en-US"/>
          </a:p>
        </p:txBody>
      </p:sp>
      <p:sp>
        <p:nvSpPr>
          <p:cNvPr id="4" name="Text 2"/>
          <p:cNvSpPr/>
          <p:nvPr/>
        </p:nvSpPr>
        <p:spPr>
          <a:xfrm>
            <a:off x="457200" y="0"/>
            <a:ext cx="8229600" cy="10058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Chapter 4, Section I  |  Traffic Count Dashboard via CCTV</a:t>
            </a:r>
            <a:endParaRPr lang="en-US" sz="2600" dirty="0"/>
          </a:p>
        </p:txBody>
      </p:sp>
      <p:sp>
        <p:nvSpPr>
          <p:cNvPr id="5" name="Shape 3"/>
          <p:cNvSpPr/>
          <p:nvPr/>
        </p:nvSpPr>
        <p:spPr>
          <a:xfrm>
            <a:off x="320040" y="1170432"/>
            <a:ext cx="4160520" cy="118872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320040" y="1170432"/>
            <a:ext cx="64008" cy="1188720"/>
          </a:xfrm>
          <a:prstGeom prst="rect">
            <a:avLst/>
          </a:prstGeom>
          <a:solidFill>
            <a:srgbClr val="0D9488"/>
          </a:solidFill>
          <a:ln w="12700">
            <a:solidFill>
              <a:srgbClr val="0D9488"/>
            </a:solidFill>
            <a:prstDash val="solid"/>
          </a:ln>
        </p:spPr>
        <p:txBody>
          <a:bodyPr/>
          <a:lstStyle/>
          <a:p>
            <a:endParaRPr lang="en-US"/>
          </a:p>
        </p:txBody>
      </p:sp>
      <p:sp>
        <p:nvSpPr>
          <p:cNvPr id="7" name="Text 5"/>
          <p:cNvSpPr/>
          <p:nvPr/>
        </p:nvSpPr>
        <p:spPr>
          <a:xfrm>
            <a:off x="548640" y="1234440"/>
            <a:ext cx="3749040" cy="274320"/>
          </a:xfrm>
          <a:prstGeom prst="rect">
            <a:avLst/>
          </a:prstGeom>
          <a:noFill/>
          <a:ln/>
        </p:spPr>
        <p:txBody>
          <a:bodyPr wrap="square" lIns="0" tIns="0" rIns="0" bIns="0" rtlCol="0" anchor="ctr"/>
          <a:lstStyle/>
          <a:p>
            <a:pPr marL="0" indent="0">
              <a:buNone/>
            </a:pPr>
            <a:r>
              <a:rPr lang="en-US" sz="1200" b="1" dirty="0">
                <a:solidFill>
                  <a:srgbClr val="1C2951"/>
                </a:solidFill>
                <a:latin typeface="Calibri" pitchFamily="34" charset="0"/>
                <a:ea typeface="Calibri" pitchFamily="34" charset="-122"/>
                <a:cs typeface="Calibri" pitchFamily="34" charset="-120"/>
              </a:rPr>
              <a:t>Proposed Solution</a:t>
            </a:r>
            <a:endParaRPr lang="en-US" sz="1200" dirty="0"/>
          </a:p>
        </p:txBody>
      </p:sp>
      <p:sp>
        <p:nvSpPr>
          <p:cNvPr id="8" name="Text 6"/>
          <p:cNvSpPr/>
          <p:nvPr/>
        </p:nvSpPr>
        <p:spPr>
          <a:xfrm>
            <a:off x="548640" y="1536192"/>
            <a:ext cx="3794760" cy="749808"/>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Enhance data management &amp; analysis efficiency for CUMTA's traffic data. Build an end-to-end system: data collection from CCTV cameras → PostgreSQL storage → Flask APIs → Web frontend dashboard.</a:t>
            </a:r>
            <a:endParaRPr lang="en-US" sz="950" dirty="0"/>
          </a:p>
        </p:txBody>
      </p:sp>
      <p:sp>
        <p:nvSpPr>
          <p:cNvPr id="9" name="Shape 7"/>
          <p:cNvSpPr/>
          <p:nvPr/>
        </p:nvSpPr>
        <p:spPr>
          <a:xfrm>
            <a:off x="4754880" y="1170432"/>
            <a:ext cx="4069080" cy="118872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0" name="Shape 8"/>
          <p:cNvSpPr/>
          <p:nvPr/>
        </p:nvSpPr>
        <p:spPr>
          <a:xfrm>
            <a:off x="4754880" y="1170432"/>
            <a:ext cx="64008" cy="1188720"/>
          </a:xfrm>
          <a:prstGeom prst="rect">
            <a:avLst/>
          </a:prstGeom>
          <a:solidFill>
            <a:srgbClr val="0D9488"/>
          </a:solidFill>
          <a:ln w="12700">
            <a:solidFill>
              <a:srgbClr val="0D9488"/>
            </a:solidFill>
            <a:prstDash val="solid"/>
          </a:ln>
        </p:spPr>
        <p:txBody>
          <a:bodyPr/>
          <a:lstStyle/>
          <a:p>
            <a:endParaRPr lang="en-US"/>
          </a:p>
        </p:txBody>
      </p:sp>
      <p:sp>
        <p:nvSpPr>
          <p:cNvPr id="11" name="Text 9"/>
          <p:cNvSpPr/>
          <p:nvPr/>
        </p:nvSpPr>
        <p:spPr>
          <a:xfrm>
            <a:off x="4956048" y="1234440"/>
            <a:ext cx="3657600" cy="274320"/>
          </a:xfrm>
          <a:prstGeom prst="rect">
            <a:avLst/>
          </a:prstGeom>
          <a:noFill/>
          <a:ln/>
        </p:spPr>
        <p:txBody>
          <a:bodyPr wrap="square" lIns="0" tIns="0" rIns="0" bIns="0" rtlCol="0" anchor="ctr"/>
          <a:lstStyle/>
          <a:p>
            <a:pPr marL="0" indent="0">
              <a:buNone/>
            </a:pPr>
            <a:r>
              <a:rPr lang="en-US" sz="1200" b="1" dirty="0">
                <a:solidFill>
                  <a:srgbClr val="1C2951"/>
                </a:solidFill>
                <a:latin typeface="Calibri" pitchFamily="34" charset="0"/>
                <a:ea typeface="Calibri" pitchFamily="34" charset="-122"/>
                <a:cs typeface="Calibri" pitchFamily="34" charset="-120"/>
              </a:rPr>
              <a:t>Designed Methodology</a:t>
            </a:r>
            <a:endParaRPr lang="en-US" sz="1200" dirty="0"/>
          </a:p>
        </p:txBody>
      </p:sp>
      <p:sp>
        <p:nvSpPr>
          <p:cNvPr id="12" name="Text 10"/>
          <p:cNvSpPr/>
          <p:nvPr/>
        </p:nvSpPr>
        <p:spPr>
          <a:xfrm>
            <a:off x="4956048" y="1536192"/>
            <a:ext cx="3794760" cy="18288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1. Requirement Analysis — CUMTA data visualization needs</a:t>
            </a:r>
            <a:endParaRPr lang="en-US" sz="950" dirty="0"/>
          </a:p>
        </p:txBody>
      </p:sp>
      <p:sp>
        <p:nvSpPr>
          <p:cNvPr id="13" name="Text 11"/>
          <p:cNvSpPr/>
          <p:nvPr/>
        </p:nvSpPr>
        <p:spPr>
          <a:xfrm>
            <a:off x="4956048" y="1737360"/>
            <a:ext cx="3794760" cy="18288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2. System Architecture — Python Flask backend + PostgreSQL</a:t>
            </a:r>
            <a:endParaRPr lang="en-US" sz="950" dirty="0"/>
          </a:p>
        </p:txBody>
      </p:sp>
      <p:sp>
        <p:nvSpPr>
          <p:cNvPr id="14" name="Text 12"/>
          <p:cNvSpPr/>
          <p:nvPr/>
        </p:nvSpPr>
        <p:spPr>
          <a:xfrm>
            <a:off x="4956048" y="1938528"/>
            <a:ext cx="3794760" cy="18288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3. Backend Development — REST APIs connecting DB to frontend</a:t>
            </a:r>
            <a:endParaRPr lang="en-US" sz="950" dirty="0"/>
          </a:p>
        </p:txBody>
      </p:sp>
      <p:sp>
        <p:nvSpPr>
          <p:cNvPr id="15" name="Text 13"/>
          <p:cNvSpPr/>
          <p:nvPr/>
        </p:nvSpPr>
        <p:spPr>
          <a:xfrm>
            <a:off x="4956048" y="2139696"/>
            <a:ext cx="3794760" cy="18288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4. Database Design — Relational DB for vehicle count &amp; credentials</a:t>
            </a:r>
            <a:endParaRPr lang="en-US" sz="950" dirty="0"/>
          </a:p>
        </p:txBody>
      </p:sp>
      <p:sp>
        <p:nvSpPr>
          <p:cNvPr id="16" name="Text 14"/>
          <p:cNvSpPr/>
          <p:nvPr/>
        </p:nvSpPr>
        <p:spPr>
          <a:xfrm>
            <a:off x="320040" y="2496312"/>
            <a:ext cx="8503920" cy="274320"/>
          </a:xfrm>
          <a:prstGeom prst="rect">
            <a:avLst/>
          </a:prstGeom>
          <a:noFill/>
          <a:ln/>
        </p:spPr>
        <p:txBody>
          <a:bodyPr wrap="square" lIns="0" tIns="0" rIns="0" bIns="0" rtlCol="0" anchor="ctr"/>
          <a:lstStyle/>
          <a:p>
            <a:pPr marL="0" indent="0">
              <a:buNone/>
            </a:pPr>
            <a:r>
              <a:rPr lang="en-US" sz="1000" b="1" kern="0" spc="200" dirty="0">
                <a:solidFill>
                  <a:srgbClr val="0D9488"/>
                </a:solidFill>
                <a:latin typeface="Calibri" pitchFamily="34" charset="0"/>
                <a:ea typeface="Calibri" pitchFamily="34" charset="-122"/>
                <a:cs typeface="Calibri" pitchFamily="34" charset="-120"/>
              </a:rPr>
              <a:t>REQUIREMENTS</a:t>
            </a:r>
            <a:endParaRPr lang="en-US" sz="1000" dirty="0"/>
          </a:p>
        </p:txBody>
      </p:sp>
      <p:sp>
        <p:nvSpPr>
          <p:cNvPr id="17" name="Shape 15"/>
          <p:cNvSpPr/>
          <p:nvPr/>
        </p:nvSpPr>
        <p:spPr>
          <a:xfrm>
            <a:off x="320040" y="2816352"/>
            <a:ext cx="4160520" cy="804672"/>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8" name="Shape 16"/>
          <p:cNvSpPr/>
          <p:nvPr/>
        </p:nvSpPr>
        <p:spPr>
          <a:xfrm>
            <a:off x="320040" y="2816352"/>
            <a:ext cx="64008" cy="804672"/>
          </a:xfrm>
          <a:prstGeom prst="rect">
            <a:avLst/>
          </a:prstGeom>
          <a:solidFill>
            <a:srgbClr val="0D9488"/>
          </a:solidFill>
          <a:ln w="12700">
            <a:solidFill>
              <a:srgbClr val="0D9488"/>
            </a:solidFill>
            <a:prstDash val="solid"/>
          </a:ln>
        </p:spPr>
        <p:txBody>
          <a:bodyPr/>
          <a:lstStyle/>
          <a:p>
            <a:endParaRPr lang="en-US"/>
          </a:p>
        </p:txBody>
      </p:sp>
      <p:sp>
        <p:nvSpPr>
          <p:cNvPr id="19" name="Text 17"/>
          <p:cNvSpPr/>
          <p:nvPr/>
        </p:nvSpPr>
        <p:spPr>
          <a:xfrm>
            <a:off x="521208" y="2880360"/>
            <a:ext cx="3749040" cy="246888"/>
          </a:xfrm>
          <a:prstGeom prst="rect">
            <a:avLst/>
          </a:prstGeom>
          <a:noFill/>
          <a:ln/>
        </p:spPr>
        <p:txBody>
          <a:bodyPr wrap="square" lIns="0" tIns="0" rIns="0" bIns="0" rtlCol="0" anchor="ctr"/>
          <a:lstStyle/>
          <a:p>
            <a:pPr marL="0" indent="0">
              <a:buNone/>
            </a:pPr>
            <a:r>
              <a:rPr lang="en-US" sz="1100" b="1" dirty="0">
                <a:solidFill>
                  <a:srgbClr val="1C2951"/>
                </a:solidFill>
                <a:latin typeface="Calibri" pitchFamily="34" charset="0"/>
                <a:ea typeface="Calibri" pitchFamily="34" charset="-122"/>
                <a:cs typeface="Calibri" pitchFamily="34" charset="-120"/>
              </a:rPr>
              <a:t>Backend</a:t>
            </a:r>
            <a:endParaRPr lang="en-US" sz="1100" dirty="0"/>
          </a:p>
        </p:txBody>
      </p:sp>
      <p:sp>
        <p:nvSpPr>
          <p:cNvPr id="20" name="Text 18"/>
          <p:cNvSpPr/>
          <p:nvPr/>
        </p:nvSpPr>
        <p:spPr>
          <a:xfrm>
            <a:off x="521208" y="3136392"/>
            <a:ext cx="3749040" cy="420624"/>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Python Flask</a:t>
            </a:r>
            <a:endParaRPr lang="en-US" sz="1050" dirty="0"/>
          </a:p>
        </p:txBody>
      </p:sp>
      <p:sp>
        <p:nvSpPr>
          <p:cNvPr id="21" name="Shape 19"/>
          <p:cNvSpPr/>
          <p:nvPr/>
        </p:nvSpPr>
        <p:spPr>
          <a:xfrm>
            <a:off x="4754880" y="2816352"/>
            <a:ext cx="4160520" cy="804672"/>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2" name="Shape 20"/>
          <p:cNvSpPr/>
          <p:nvPr/>
        </p:nvSpPr>
        <p:spPr>
          <a:xfrm>
            <a:off x="4754880" y="2816352"/>
            <a:ext cx="64008" cy="804672"/>
          </a:xfrm>
          <a:prstGeom prst="rect">
            <a:avLst/>
          </a:prstGeom>
          <a:solidFill>
            <a:srgbClr val="0D9488"/>
          </a:solidFill>
          <a:ln w="12700">
            <a:solidFill>
              <a:srgbClr val="0D9488"/>
            </a:solidFill>
            <a:prstDash val="solid"/>
          </a:ln>
        </p:spPr>
        <p:txBody>
          <a:bodyPr/>
          <a:lstStyle/>
          <a:p>
            <a:endParaRPr lang="en-US"/>
          </a:p>
        </p:txBody>
      </p:sp>
      <p:sp>
        <p:nvSpPr>
          <p:cNvPr id="23" name="Text 21"/>
          <p:cNvSpPr/>
          <p:nvPr/>
        </p:nvSpPr>
        <p:spPr>
          <a:xfrm>
            <a:off x="4956048" y="2880360"/>
            <a:ext cx="3749040" cy="246888"/>
          </a:xfrm>
          <a:prstGeom prst="rect">
            <a:avLst/>
          </a:prstGeom>
          <a:noFill/>
          <a:ln/>
        </p:spPr>
        <p:txBody>
          <a:bodyPr wrap="square" lIns="0" tIns="0" rIns="0" bIns="0" rtlCol="0" anchor="ctr"/>
          <a:lstStyle/>
          <a:p>
            <a:pPr marL="0" indent="0">
              <a:buNone/>
            </a:pPr>
            <a:r>
              <a:rPr lang="en-US" sz="1100" b="1" dirty="0">
                <a:solidFill>
                  <a:srgbClr val="1C2951"/>
                </a:solidFill>
                <a:latin typeface="Calibri" pitchFamily="34" charset="0"/>
                <a:ea typeface="Calibri" pitchFamily="34" charset="-122"/>
                <a:cs typeface="Calibri" pitchFamily="34" charset="-120"/>
              </a:rPr>
              <a:t>Database</a:t>
            </a:r>
            <a:endParaRPr lang="en-US" sz="1100" dirty="0"/>
          </a:p>
        </p:txBody>
      </p:sp>
      <p:sp>
        <p:nvSpPr>
          <p:cNvPr id="24" name="Text 22"/>
          <p:cNvSpPr/>
          <p:nvPr/>
        </p:nvSpPr>
        <p:spPr>
          <a:xfrm>
            <a:off x="4956048" y="3136392"/>
            <a:ext cx="3749040" cy="420624"/>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PostgreSQL  &amp;  MongoDB</a:t>
            </a:r>
            <a:endParaRPr lang="en-US" sz="1050" dirty="0"/>
          </a:p>
        </p:txBody>
      </p:sp>
      <p:sp>
        <p:nvSpPr>
          <p:cNvPr id="25" name="Shape 23"/>
          <p:cNvSpPr/>
          <p:nvPr/>
        </p:nvSpPr>
        <p:spPr>
          <a:xfrm>
            <a:off x="320040" y="3776472"/>
            <a:ext cx="4160520" cy="804672"/>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6" name="Shape 24"/>
          <p:cNvSpPr/>
          <p:nvPr/>
        </p:nvSpPr>
        <p:spPr>
          <a:xfrm>
            <a:off x="320040" y="3776472"/>
            <a:ext cx="64008" cy="804672"/>
          </a:xfrm>
          <a:prstGeom prst="rect">
            <a:avLst/>
          </a:prstGeom>
          <a:solidFill>
            <a:srgbClr val="0D9488"/>
          </a:solidFill>
          <a:ln w="12700">
            <a:solidFill>
              <a:srgbClr val="0D9488"/>
            </a:solidFill>
            <a:prstDash val="solid"/>
          </a:ln>
        </p:spPr>
        <p:txBody>
          <a:bodyPr/>
          <a:lstStyle/>
          <a:p>
            <a:endParaRPr lang="en-US"/>
          </a:p>
        </p:txBody>
      </p:sp>
      <p:sp>
        <p:nvSpPr>
          <p:cNvPr id="27" name="Text 25"/>
          <p:cNvSpPr/>
          <p:nvPr/>
        </p:nvSpPr>
        <p:spPr>
          <a:xfrm>
            <a:off x="521208" y="3840480"/>
            <a:ext cx="3749040" cy="246888"/>
          </a:xfrm>
          <a:prstGeom prst="rect">
            <a:avLst/>
          </a:prstGeom>
          <a:noFill/>
          <a:ln/>
        </p:spPr>
        <p:txBody>
          <a:bodyPr wrap="square" lIns="0" tIns="0" rIns="0" bIns="0" rtlCol="0" anchor="ctr"/>
          <a:lstStyle/>
          <a:p>
            <a:pPr marL="0" indent="0">
              <a:buNone/>
            </a:pPr>
            <a:r>
              <a:rPr lang="en-US" sz="1100" b="1" dirty="0">
                <a:solidFill>
                  <a:srgbClr val="1C2951"/>
                </a:solidFill>
                <a:latin typeface="Calibri" pitchFamily="34" charset="0"/>
                <a:ea typeface="Calibri" pitchFamily="34" charset="-122"/>
                <a:cs typeface="Calibri" pitchFamily="34" charset="-120"/>
              </a:rPr>
              <a:t>Dev Tools</a:t>
            </a:r>
            <a:endParaRPr lang="en-US" sz="1100" dirty="0"/>
          </a:p>
        </p:txBody>
      </p:sp>
      <p:sp>
        <p:nvSpPr>
          <p:cNvPr id="28" name="Text 26"/>
          <p:cNvSpPr/>
          <p:nvPr/>
        </p:nvSpPr>
        <p:spPr>
          <a:xfrm>
            <a:off x="521208" y="4096512"/>
            <a:ext cx="3749040" cy="420624"/>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VS Code · Postman · Git</a:t>
            </a:r>
            <a:endParaRPr lang="en-US" sz="1050" dirty="0"/>
          </a:p>
        </p:txBody>
      </p:sp>
      <p:sp>
        <p:nvSpPr>
          <p:cNvPr id="29" name="Shape 27"/>
          <p:cNvSpPr/>
          <p:nvPr/>
        </p:nvSpPr>
        <p:spPr>
          <a:xfrm>
            <a:off x="4754880" y="3776472"/>
            <a:ext cx="4160520" cy="804672"/>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30" name="Shape 28"/>
          <p:cNvSpPr/>
          <p:nvPr/>
        </p:nvSpPr>
        <p:spPr>
          <a:xfrm>
            <a:off x="4754880" y="3776472"/>
            <a:ext cx="64008" cy="804672"/>
          </a:xfrm>
          <a:prstGeom prst="rect">
            <a:avLst/>
          </a:prstGeom>
          <a:solidFill>
            <a:srgbClr val="0D9488"/>
          </a:solidFill>
          <a:ln w="12700">
            <a:solidFill>
              <a:srgbClr val="0D9488"/>
            </a:solidFill>
            <a:prstDash val="solid"/>
          </a:ln>
        </p:spPr>
        <p:txBody>
          <a:bodyPr/>
          <a:lstStyle/>
          <a:p>
            <a:endParaRPr lang="en-US"/>
          </a:p>
        </p:txBody>
      </p:sp>
      <p:sp>
        <p:nvSpPr>
          <p:cNvPr id="31" name="Text 29"/>
          <p:cNvSpPr/>
          <p:nvPr/>
        </p:nvSpPr>
        <p:spPr>
          <a:xfrm>
            <a:off x="4956048" y="3840480"/>
            <a:ext cx="3749040" cy="246888"/>
          </a:xfrm>
          <a:prstGeom prst="rect">
            <a:avLst/>
          </a:prstGeom>
          <a:noFill/>
          <a:ln/>
        </p:spPr>
        <p:txBody>
          <a:bodyPr wrap="square" lIns="0" tIns="0" rIns="0" bIns="0" rtlCol="0" anchor="ctr"/>
          <a:lstStyle/>
          <a:p>
            <a:pPr marL="0" indent="0">
              <a:buNone/>
            </a:pPr>
            <a:r>
              <a:rPr lang="en-US" sz="1100" b="1" dirty="0">
                <a:solidFill>
                  <a:srgbClr val="1C2951"/>
                </a:solidFill>
                <a:latin typeface="Calibri" pitchFamily="34" charset="0"/>
                <a:ea typeface="Calibri" pitchFamily="34" charset="-122"/>
                <a:cs typeface="Calibri" pitchFamily="34" charset="-120"/>
              </a:rPr>
              <a:t>Container</a:t>
            </a:r>
            <a:endParaRPr lang="en-US" sz="1100" dirty="0"/>
          </a:p>
        </p:txBody>
      </p:sp>
      <p:sp>
        <p:nvSpPr>
          <p:cNvPr id="32" name="Text 30"/>
          <p:cNvSpPr/>
          <p:nvPr/>
        </p:nvSpPr>
        <p:spPr>
          <a:xfrm>
            <a:off x="4956048" y="4096512"/>
            <a:ext cx="3749040" cy="420624"/>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Docker</a:t>
            </a:r>
            <a:endParaRPr lang="en-US" sz="1050" dirty="0"/>
          </a:p>
        </p:txBody>
      </p:sp>
      <p:sp>
        <p:nvSpPr>
          <p:cNvPr id="33" name="Shape 31"/>
          <p:cNvSpPr/>
          <p:nvPr/>
        </p:nvSpPr>
        <p:spPr>
          <a:xfrm>
            <a:off x="0" y="4873752"/>
            <a:ext cx="9144000" cy="274320"/>
          </a:xfrm>
          <a:prstGeom prst="rect">
            <a:avLst/>
          </a:prstGeom>
          <a:solidFill>
            <a:srgbClr val="1C2951"/>
          </a:solidFill>
          <a:ln w="12700">
            <a:solidFill>
              <a:srgbClr val="1C2951"/>
            </a:solidFill>
            <a:prstDash val="solid"/>
          </a:ln>
        </p:spPr>
        <p:txBody>
          <a:bodyPr/>
          <a:lstStyle/>
          <a:p>
            <a:endParaRPr lang="en-US"/>
          </a:p>
        </p:txBody>
      </p:sp>
      <p:sp>
        <p:nvSpPr>
          <p:cNvPr id="34" name="Text 32"/>
          <p:cNvSpPr/>
          <p:nvPr/>
        </p:nvSpPr>
        <p:spPr>
          <a:xfrm>
            <a:off x="274320" y="4873752"/>
            <a:ext cx="8595360" cy="274320"/>
          </a:xfrm>
          <a:prstGeom prst="rect">
            <a:avLst/>
          </a:prstGeom>
          <a:noFill/>
          <a:ln/>
        </p:spPr>
        <p:txBody>
          <a:bodyPr wrap="square" lIns="0" tIns="0" rIns="0" bIns="0" rtlCol="0" anchor="ctr"/>
          <a:lstStyle/>
          <a:p>
            <a:pPr marL="0" indent="0">
              <a:buNone/>
            </a:pPr>
            <a:r>
              <a:rPr lang="en-US" sz="800" dirty="0">
                <a:solidFill>
                  <a:srgbClr val="A0AEC0"/>
                </a:solidFill>
                <a:latin typeface="Calibri" pitchFamily="34" charset="0"/>
                <a:ea typeface="Calibri" pitchFamily="34" charset="-122"/>
                <a:cs typeface="Calibri" pitchFamily="34" charset="-120"/>
              </a:rPr>
              <a:t>Data Science Internship  |  CUMTA  |  Manoj Kumar D</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9F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C2951"/>
          </a:solidFill>
          <a:ln w="12700">
            <a:solidFill>
              <a:srgbClr val="1C2951"/>
            </a:solidFill>
            <a:prstDash val="solid"/>
          </a:ln>
        </p:spPr>
        <p:txBody>
          <a:bodyPr/>
          <a:lstStyle/>
          <a:p>
            <a:endParaRPr lang="en-US"/>
          </a:p>
        </p:txBody>
      </p:sp>
      <p:sp>
        <p:nvSpPr>
          <p:cNvPr id="3" name="Shape 1"/>
          <p:cNvSpPr/>
          <p:nvPr/>
        </p:nvSpPr>
        <p:spPr>
          <a:xfrm>
            <a:off x="0" y="1005840"/>
            <a:ext cx="9144000" cy="54864"/>
          </a:xfrm>
          <a:prstGeom prst="rect">
            <a:avLst/>
          </a:prstGeom>
          <a:solidFill>
            <a:srgbClr val="0D9488"/>
          </a:solidFill>
          <a:ln w="12700">
            <a:solidFill>
              <a:srgbClr val="0D9488"/>
            </a:solidFill>
            <a:prstDash val="solid"/>
          </a:ln>
        </p:spPr>
        <p:txBody>
          <a:bodyPr/>
          <a:lstStyle/>
          <a:p>
            <a:endParaRPr lang="en-US"/>
          </a:p>
        </p:txBody>
      </p:sp>
      <p:sp>
        <p:nvSpPr>
          <p:cNvPr id="4" name="Text 2"/>
          <p:cNvSpPr/>
          <p:nvPr/>
        </p:nvSpPr>
        <p:spPr>
          <a:xfrm>
            <a:off x="457200" y="0"/>
            <a:ext cx="8229600" cy="10058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Chapter 4, Section II  |  Tableau Traffic Monitor Dashboard</a:t>
            </a:r>
            <a:endParaRPr lang="en-US" sz="2600" dirty="0"/>
          </a:p>
        </p:txBody>
      </p:sp>
      <p:sp>
        <p:nvSpPr>
          <p:cNvPr id="5" name="Shape 3"/>
          <p:cNvSpPr/>
          <p:nvPr/>
        </p:nvSpPr>
        <p:spPr>
          <a:xfrm>
            <a:off x="320040" y="1170432"/>
            <a:ext cx="8503920" cy="86868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320040" y="1170432"/>
            <a:ext cx="64008" cy="868680"/>
          </a:xfrm>
          <a:prstGeom prst="rect">
            <a:avLst/>
          </a:prstGeom>
          <a:solidFill>
            <a:srgbClr val="0D9488"/>
          </a:solidFill>
          <a:ln w="12700">
            <a:solidFill>
              <a:srgbClr val="0D9488"/>
            </a:solidFill>
            <a:prstDash val="solid"/>
          </a:ln>
        </p:spPr>
        <p:txBody>
          <a:bodyPr/>
          <a:lstStyle/>
          <a:p>
            <a:endParaRPr lang="en-US"/>
          </a:p>
        </p:txBody>
      </p:sp>
      <p:sp>
        <p:nvSpPr>
          <p:cNvPr id="7" name="Text 5"/>
          <p:cNvSpPr/>
          <p:nvPr/>
        </p:nvSpPr>
        <p:spPr>
          <a:xfrm>
            <a:off x="530352" y="1225296"/>
            <a:ext cx="8046720" cy="256032"/>
          </a:xfrm>
          <a:prstGeom prst="rect">
            <a:avLst/>
          </a:prstGeom>
          <a:noFill/>
          <a:ln/>
        </p:spPr>
        <p:txBody>
          <a:bodyPr wrap="square" lIns="0" tIns="0" rIns="0" bIns="0" rtlCol="0" anchor="ctr"/>
          <a:lstStyle/>
          <a:p>
            <a:pPr marL="0" indent="0">
              <a:buNone/>
            </a:pPr>
            <a:r>
              <a:rPr lang="en-US" sz="1200" b="1" dirty="0">
                <a:solidFill>
                  <a:srgbClr val="1C2951"/>
                </a:solidFill>
                <a:latin typeface="Calibri" pitchFamily="34" charset="0"/>
                <a:ea typeface="Calibri" pitchFamily="34" charset="-122"/>
                <a:cs typeface="Calibri" pitchFamily="34" charset="-120"/>
              </a:rPr>
              <a:t>Proposed Solution</a:t>
            </a:r>
            <a:endParaRPr lang="en-US" sz="1200" dirty="0"/>
          </a:p>
        </p:txBody>
      </p:sp>
      <p:sp>
        <p:nvSpPr>
          <p:cNvPr id="8" name="Text 6"/>
          <p:cNvSpPr/>
          <p:nvPr/>
        </p:nvSpPr>
        <p:spPr>
          <a:xfrm>
            <a:off x="530352" y="1490472"/>
            <a:ext cx="8046720" cy="493776"/>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A dynamic Tableau dashboard connected directly to the PostgreSQL database to monitor vehicle traffic at EGA Theatre Signal. Leverages pie charts, bar graphs, and line charts to display the distribution and flow of vehicles captured by three CCTV cameras.</a:t>
            </a:r>
            <a:endParaRPr lang="en-US" sz="1000" dirty="0"/>
          </a:p>
        </p:txBody>
      </p:sp>
      <p:sp>
        <p:nvSpPr>
          <p:cNvPr id="9" name="Shape 7"/>
          <p:cNvSpPr/>
          <p:nvPr/>
        </p:nvSpPr>
        <p:spPr>
          <a:xfrm>
            <a:off x="320040" y="2194560"/>
            <a:ext cx="2697480" cy="1481328"/>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0" name="Shape 8"/>
          <p:cNvSpPr/>
          <p:nvPr/>
        </p:nvSpPr>
        <p:spPr>
          <a:xfrm>
            <a:off x="320040" y="2194560"/>
            <a:ext cx="64008" cy="1481328"/>
          </a:xfrm>
          <a:prstGeom prst="rect">
            <a:avLst/>
          </a:prstGeom>
          <a:solidFill>
            <a:srgbClr val="0D9488"/>
          </a:solidFill>
          <a:ln w="12700">
            <a:solidFill>
              <a:srgbClr val="0D9488"/>
            </a:solidFill>
            <a:prstDash val="solid"/>
          </a:ln>
        </p:spPr>
        <p:txBody>
          <a:bodyPr/>
          <a:lstStyle/>
          <a:p>
            <a:endParaRPr lang="en-US"/>
          </a:p>
        </p:txBody>
      </p:sp>
      <p:sp>
        <p:nvSpPr>
          <p:cNvPr id="11" name="Text 9"/>
          <p:cNvSpPr/>
          <p:nvPr/>
        </p:nvSpPr>
        <p:spPr>
          <a:xfrm>
            <a:off x="457200" y="2258568"/>
            <a:ext cx="457200" cy="365760"/>
          </a:xfrm>
          <a:prstGeom prst="rect">
            <a:avLst/>
          </a:prstGeom>
          <a:noFill/>
          <a:ln/>
        </p:spPr>
        <p:txBody>
          <a:bodyPr wrap="square" lIns="0" tIns="0" rIns="0" bIns="0" rtlCol="0" anchor="ctr"/>
          <a:lstStyle/>
          <a:p>
            <a:pPr marL="0" indent="0">
              <a:buNone/>
            </a:pPr>
            <a:r>
              <a:rPr lang="en-US" sz="2000" b="1" dirty="0">
                <a:solidFill>
                  <a:srgbClr val="0D9488"/>
                </a:solidFill>
                <a:latin typeface="Georgia" pitchFamily="34" charset="0"/>
                <a:ea typeface="Georgia" pitchFamily="34" charset="-122"/>
                <a:cs typeface="Georgia" pitchFamily="34" charset="-120"/>
              </a:rPr>
              <a:t>01</a:t>
            </a:r>
            <a:endParaRPr lang="en-US" sz="2000" dirty="0"/>
          </a:p>
        </p:txBody>
      </p:sp>
      <p:sp>
        <p:nvSpPr>
          <p:cNvPr id="12" name="Text 10"/>
          <p:cNvSpPr/>
          <p:nvPr/>
        </p:nvSpPr>
        <p:spPr>
          <a:xfrm>
            <a:off x="521208" y="2633472"/>
            <a:ext cx="2377440" cy="274320"/>
          </a:xfrm>
          <a:prstGeom prst="rect">
            <a:avLst/>
          </a:prstGeom>
          <a:noFill/>
          <a:ln/>
        </p:spPr>
        <p:txBody>
          <a:bodyPr wrap="square" lIns="0" tIns="0" rIns="0" bIns="0" rtlCol="0" anchor="ctr"/>
          <a:lstStyle/>
          <a:p>
            <a:pPr marL="0" indent="0">
              <a:buNone/>
            </a:pPr>
            <a:r>
              <a:rPr lang="en-US" sz="1100" b="1" dirty="0">
                <a:solidFill>
                  <a:srgbClr val="1C2951"/>
                </a:solidFill>
                <a:latin typeface="Calibri" pitchFamily="34" charset="0"/>
                <a:ea typeface="Calibri" pitchFamily="34" charset="-122"/>
                <a:cs typeface="Calibri" pitchFamily="34" charset="-120"/>
              </a:rPr>
              <a:t>Data Extraction</a:t>
            </a:r>
            <a:endParaRPr lang="en-US" sz="1100" dirty="0"/>
          </a:p>
        </p:txBody>
      </p:sp>
      <p:sp>
        <p:nvSpPr>
          <p:cNvPr id="13" name="Text 11"/>
          <p:cNvSpPr/>
          <p:nvPr/>
        </p:nvSpPr>
        <p:spPr>
          <a:xfrm>
            <a:off x="521208" y="2926080"/>
            <a:ext cx="2377440" cy="68580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Connected Tableau to PostgreSQL. Imported Signal Name, Camera ID, Vehicle Count, and Timestamp fields.</a:t>
            </a:r>
            <a:endParaRPr lang="en-US" sz="950" dirty="0"/>
          </a:p>
        </p:txBody>
      </p:sp>
      <p:sp>
        <p:nvSpPr>
          <p:cNvPr id="14" name="Shape 12"/>
          <p:cNvSpPr/>
          <p:nvPr/>
        </p:nvSpPr>
        <p:spPr>
          <a:xfrm>
            <a:off x="3246120" y="2194560"/>
            <a:ext cx="2697480" cy="1481328"/>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5" name="Shape 13"/>
          <p:cNvSpPr/>
          <p:nvPr/>
        </p:nvSpPr>
        <p:spPr>
          <a:xfrm>
            <a:off x="3246120" y="2194560"/>
            <a:ext cx="64008" cy="1481328"/>
          </a:xfrm>
          <a:prstGeom prst="rect">
            <a:avLst/>
          </a:prstGeom>
          <a:solidFill>
            <a:srgbClr val="0D9488"/>
          </a:solidFill>
          <a:ln w="12700">
            <a:solidFill>
              <a:srgbClr val="0D9488"/>
            </a:solidFill>
            <a:prstDash val="solid"/>
          </a:ln>
        </p:spPr>
        <p:txBody>
          <a:bodyPr/>
          <a:lstStyle/>
          <a:p>
            <a:endParaRPr lang="en-US"/>
          </a:p>
        </p:txBody>
      </p:sp>
      <p:sp>
        <p:nvSpPr>
          <p:cNvPr id="16" name="Text 14"/>
          <p:cNvSpPr/>
          <p:nvPr/>
        </p:nvSpPr>
        <p:spPr>
          <a:xfrm>
            <a:off x="3383280" y="2258568"/>
            <a:ext cx="457200" cy="365760"/>
          </a:xfrm>
          <a:prstGeom prst="rect">
            <a:avLst/>
          </a:prstGeom>
          <a:noFill/>
          <a:ln/>
        </p:spPr>
        <p:txBody>
          <a:bodyPr wrap="square" lIns="0" tIns="0" rIns="0" bIns="0" rtlCol="0" anchor="ctr"/>
          <a:lstStyle/>
          <a:p>
            <a:pPr marL="0" indent="0">
              <a:buNone/>
            </a:pPr>
            <a:r>
              <a:rPr lang="en-US" sz="2000" b="1" dirty="0">
                <a:solidFill>
                  <a:srgbClr val="0D9488"/>
                </a:solidFill>
                <a:latin typeface="Georgia" pitchFamily="34" charset="0"/>
                <a:ea typeface="Georgia" pitchFamily="34" charset="-122"/>
                <a:cs typeface="Georgia" pitchFamily="34" charset="-120"/>
              </a:rPr>
              <a:t>02</a:t>
            </a:r>
            <a:endParaRPr lang="en-US" sz="2000" dirty="0"/>
          </a:p>
        </p:txBody>
      </p:sp>
      <p:sp>
        <p:nvSpPr>
          <p:cNvPr id="17" name="Text 15"/>
          <p:cNvSpPr/>
          <p:nvPr/>
        </p:nvSpPr>
        <p:spPr>
          <a:xfrm>
            <a:off x="3447288" y="2633472"/>
            <a:ext cx="2377440" cy="274320"/>
          </a:xfrm>
          <a:prstGeom prst="rect">
            <a:avLst/>
          </a:prstGeom>
          <a:noFill/>
          <a:ln/>
        </p:spPr>
        <p:txBody>
          <a:bodyPr wrap="square" lIns="0" tIns="0" rIns="0" bIns="0" rtlCol="0" anchor="ctr"/>
          <a:lstStyle/>
          <a:p>
            <a:pPr marL="0" indent="0">
              <a:buNone/>
            </a:pPr>
            <a:r>
              <a:rPr lang="en-US" sz="1100" b="1" dirty="0">
                <a:solidFill>
                  <a:srgbClr val="1C2951"/>
                </a:solidFill>
                <a:latin typeface="Calibri" pitchFamily="34" charset="0"/>
                <a:ea typeface="Calibri" pitchFamily="34" charset="-122"/>
                <a:cs typeface="Calibri" pitchFamily="34" charset="-120"/>
              </a:rPr>
              <a:t>Data Preparation</a:t>
            </a:r>
            <a:endParaRPr lang="en-US" sz="1100" dirty="0"/>
          </a:p>
        </p:txBody>
      </p:sp>
      <p:sp>
        <p:nvSpPr>
          <p:cNvPr id="18" name="Text 16"/>
          <p:cNvSpPr/>
          <p:nvPr/>
        </p:nvSpPr>
        <p:spPr>
          <a:xfrm>
            <a:off x="3447288" y="2926080"/>
            <a:ext cx="2377440" cy="68580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Aggregated counts by type &amp; time. SQL queries grouped by Camera ID and hourly/daily intervals. Handled missing entries.</a:t>
            </a:r>
            <a:endParaRPr lang="en-US" sz="950" dirty="0"/>
          </a:p>
        </p:txBody>
      </p:sp>
      <p:sp>
        <p:nvSpPr>
          <p:cNvPr id="19" name="Shape 17"/>
          <p:cNvSpPr/>
          <p:nvPr/>
        </p:nvSpPr>
        <p:spPr>
          <a:xfrm>
            <a:off x="6172200" y="2194560"/>
            <a:ext cx="2697480" cy="1481328"/>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0" name="Shape 18"/>
          <p:cNvSpPr/>
          <p:nvPr/>
        </p:nvSpPr>
        <p:spPr>
          <a:xfrm>
            <a:off x="6172200" y="2194560"/>
            <a:ext cx="64008" cy="1481328"/>
          </a:xfrm>
          <a:prstGeom prst="rect">
            <a:avLst/>
          </a:prstGeom>
          <a:solidFill>
            <a:srgbClr val="0D9488"/>
          </a:solidFill>
          <a:ln w="12700">
            <a:solidFill>
              <a:srgbClr val="0D9488"/>
            </a:solidFill>
            <a:prstDash val="solid"/>
          </a:ln>
        </p:spPr>
        <p:txBody>
          <a:bodyPr/>
          <a:lstStyle/>
          <a:p>
            <a:endParaRPr lang="en-US"/>
          </a:p>
        </p:txBody>
      </p:sp>
      <p:sp>
        <p:nvSpPr>
          <p:cNvPr id="21" name="Text 19"/>
          <p:cNvSpPr/>
          <p:nvPr/>
        </p:nvSpPr>
        <p:spPr>
          <a:xfrm>
            <a:off x="6309360" y="2258568"/>
            <a:ext cx="457200" cy="365760"/>
          </a:xfrm>
          <a:prstGeom prst="rect">
            <a:avLst/>
          </a:prstGeom>
          <a:noFill/>
          <a:ln/>
        </p:spPr>
        <p:txBody>
          <a:bodyPr wrap="square" lIns="0" tIns="0" rIns="0" bIns="0" rtlCol="0" anchor="ctr"/>
          <a:lstStyle/>
          <a:p>
            <a:pPr marL="0" indent="0">
              <a:buNone/>
            </a:pPr>
            <a:r>
              <a:rPr lang="en-US" sz="2000" b="1" dirty="0">
                <a:solidFill>
                  <a:srgbClr val="0D9488"/>
                </a:solidFill>
                <a:latin typeface="Georgia" pitchFamily="34" charset="0"/>
                <a:ea typeface="Georgia" pitchFamily="34" charset="-122"/>
                <a:cs typeface="Georgia" pitchFamily="34" charset="-120"/>
              </a:rPr>
              <a:t>03</a:t>
            </a:r>
            <a:endParaRPr lang="en-US" sz="2000" dirty="0"/>
          </a:p>
        </p:txBody>
      </p:sp>
      <p:sp>
        <p:nvSpPr>
          <p:cNvPr id="22" name="Text 20"/>
          <p:cNvSpPr/>
          <p:nvPr/>
        </p:nvSpPr>
        <p:spPr>
          <a:xfrm>
            <a:off x="6373368" y="2633472"/>
            <a:ext cx="2377440" cy="274320"/>
          </a:xfrm>
          <a:prstGeom prst="rect">
            <a:avLst/>
          </a:prstGeom>
          <a:noFill/>
          <a:ln/>
        </p:spPr>
        <p:txBody>
          <a:bodyPr wrap="square" lIns="0" tIns="0" rIns="0" bIns="0" rtlCol="0" anchor="ctr"/>
          <a:lstStyle/>
          <a:p>
            <a:pPr marL="0" indent="0">
              <a:buNone/>
            </a:pPr>
            <a:r>
              <a:rPr lang="en-US" sz="1100" b="1" dirty="0">
                <a:solidFill>
                  <a:srgbClr val="1C2951"/>
                </a:solidFill>
                <a:latin typeface="Calibri" pitchFamily="34" charset="0"/>
                <a:ea typeface="Calibri" pitchFamily="34" charset="-122"/>
                <a:cs typeface="Calibri" pitchFamily="34" charset="-120"/>
              </a:rPr>
              <a:t>Dashboard Design</a:t>
            </a:r>
            <a:endParaRPr lang="en-US" sz="1100" dirty="0"/>
          </a:p>
        </p:txBody>
      </p:sp>
      <p:sp>
        <p:nvSpPr>
          <p:cNvPr id="23" name="Text 21"/>
          <p:cNvSpPr/>
          <p:nvPr/>
        </p:nvSpPr>
        <p:spPr>
          <a:xfrm>
            <a:off x="6373368" y="2926080"/>
            <a:ext cx="2377440" cy="68580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Pie Chart (distribution), Bar Chart (totals), Line Chart (trends). Filters for Camera ID, time range, and vehicle type.</a:t>
            </a:r>
            <a:endParaRPr lang="en-US" sz="950" dirty="0"/>
          </a:p>
        </p:txBody>
      </p:sp>
      <p:sp>
        <p:nvSpPr>
          <p:cNvPr id="24" name="Text 22"/>
          <p:cNvSpPr/>
          <p:nvPr/>
        </p:nvSpPr>
        <p:spPr>
          <a:xfrm>
            <a:off x="320040" y="3767328"/>
            <a:ext cx="8503920" cy="228600"/>
          </a:xfrm>
          <a:prstGeom prst="rect">
            <a:avLst/>
          </a:prstGeom>
          <a:noFill/>
          <a:ln/>
        </p:spPr>
        <p:txBody>
          <a:bodyPr wrap="square" lIns="0" tIns="0" rIns="0" bIns="0" rtlCol="0" anchor="ctr"/>
          <a:lstStyle/>
          <a:p>
            <a:pPr marL="0" indent="0">
              <a:buNone/>
            </a:pPr>
            <a:r>
              <a:rPr lang="en-US" sz="900" b="1" kern="0" spc="200" dirty="0">
                <a:solidFill>
                  <a:srgbClr val="0D9488"/>
                </a:solidFill>
                <a:latin typeface="Calibri" pitchFamily="34" charset="0"/>
                <a:ea typeface="Calibri" pitchFamily="34" charset="-122"/>
                <a:cs typeface="Calibri" pitchFamily="34" charset="-120"/>
              </a:rPr>
              <a:t>KEY FEATURES</a:t>
            </a:r>
            <a:endParaRPr lang="en-US" sz="900" dirty="0"/>
          </a:p>
        </p:txBody>
      </p:sp>
      <p:sp>
        <p:nvSpPr>
          <p:cNvPr id="25" name="Shape 23"/>
          <p:cNvSpPr/>
          <p:nvPr/>
        </p:nvSpPr>
        <p:spPr>
          <a:xfrm>
            <a:off x="320040" y="4041648"/>
            <a:ext cx="2743200" cy="347472"/>
          </a:xfrm>
          <a:prstGeom prst="rect">
            <a:avLst/>
          </a:prstGeom>
          <a:solidFill>
            <a:srgbClr val="EEF9F7"/>
          </a:solidFill>
          <a:ln w="6350">
            <a:solidFill>
              <a:srgbClr val="14B8A6"/>
            </a:solidFill>
            <a:prstDash val="solid"/>
          </a:ln>
        </p:spPr>
        <p:txBody>
          <a:bodyPr/>
          <a:lstStyle/>
          <a:p>
            <a:endParaRPr lang="en-US"/>
          </a:p>
        </p:txBody>
      </p:sp>
      <p:sp>
        <p:nvSpPr>
          <p:cNvPr id="26" name="Text 24"/>
          <p:cNvSpPr/>
          <p:nvPr/>
        </p:nvSpPr>
        <p:spPr>
          <a:xfrm>
            <a:off x="352044" y="3959352"/>
            <a:ext cx="2560320" cy="320040"/>
          </a:xfrm>
          <a:prstGeom prst="rect">
            <a:avLst/>
          </a:prstGeom>
          <a:noFill/>
          <a:ln/>
        </p:spPr>
        <p:txBody>
          <a:bodyPr wrap="square" lIns="0" tIns="0" rIns="0" bIns="0" rtlCol="0" anchor="ctr"/>
          <a:lstStyle/>
          <a:p>
            <a:pPr marL="0" indent="0">
              <a:buNone/>
            </a:pPr>
            <a:r>
              <a:rPr lang="en-US" sz="900" b="1" dirty="0">
                <a:solidFill>
                  <a:srgbClr val="1C2951"/>
                </a:solidFill>
                <a:latin typeface="Calibri" pitchFamily="34" charset="0"/>
                <a:ea typeface="Calibri" pitchFamily="34" charset="-122"/>
                <a:cs typeface="Calibri" pitchFamily="34" charset="-120"/>
              </a:rPr>
              <a:t>Real-Time Traffic Insights: </a:t>
            </a:r>
            <a:endParaRPr lang="en-US" sz="900" dirty="0"/>
          </a:p>
        </p:txBody>
      </p:sp>
      <p:sp>
        <p:nvSpPr>
          <p:cNvPr id="27" name="Shape 25"/>
          <p:cNvSpPr/>
          <p:nvPr/>
        </p:nvSpPr>
        <p:spPr>
          <a:xfrm>
            <a:off x="3246120" y="4041648"/>
            <a:ext cx="2743200" cy="347472"/>
          </a:xfrm>
          <a:prstGeom prst="rect">
            <a:avLst/>
          </a:prstGeom>
          <a:solidFill>
            <a:srgbClr val="EEF9F7"/>
          </a:solidFill>
          <a:ln w="6350">
            <a:solidFill>
              <a:srgbClr val="14B8A6"/>
            </a:solidFill>
            <a:prstDash val="solid"/>
          </a:ln>
        </p:spPr>
        <p:txBody>
          <a:bodyPr/>
          <a:lstStyle/>
          <a:p>
            <a:endParaRPr lang="en-US"/>
          </a:p>
        </p:txBody>
      </p:sp>
      <p:sp>
        <p:nvSpPr>
          <p:cNvPr id="28" name="Text 26"/>
          <p:cNvSpPr/>
          <p:nvPr/>
        </p:nvSpPr>
        <p:spPr>
          <a:xfrm>
            <a:off x="3337560" y="4078224"/>
            <a:ext cx="2560320" cy="274320"/>
          </a:xfrm>
          <a:prstGeom prst="rect">
            <a:avLst/>
          </a:prstGeom>
          <a:noFill/>
          <a:ln/>
        </p:spPr>
        <p:txBody>
          <a:bodyPr wrap="square" lIns="0" tIns="0" rIns="0" bIns="0" rtlCol="0" anchor="ctr"/>
          <a:lstStyle/>
          <a:p>
            <a:pPr marL="0" indent="0">
              <a:buNone/>
            </a:pPr>
            <a:r>
              <a:rPr lang="en-US" sz="900" b="1" dirty="0">
                <a:solidFill>
                  <a:srgbClr val="1C2951"/>
                </a:solidFill>
                <a:latin typeface="Calibri" pitchFamily="34" charset="0"/>
                <a:ea typeface="Calibri" pitchFamily="34" charset="-122"/>
                <a:cs typeface="Calibri" pitchFamily="34" charset="-120"/>
              </a:rPr>
              <a:t>Comprehensive Visualization: </a:t>
            </a:r>
            <a:endParaRPr lang="en-US" sz="900" dirty="0"/>
          </a:p>
        </p:txBody>
      </p:sp>
      <p:sp>
        <p:nvSpPr>
          <p:cNvPr id="29" name="Shape 27"/>
          <p:cNvSpPr/>
          <p:nvPr/>
        </p:nvSpPr>
        <p:spPr>
          <a:xfrm>
            <a:off x="6172200" y="4041648"/>
            <a:ext cx="2743200" cy="347472"/>
          </a:xfrm>
          <a:prstGeom prst="rect">
            <a:avLst/>
          </a:prstGeom>
          <a:solidFill>
            <a:srgbClr val="EEF9F7"/>
          </a:solidFill>
          <a:ln w="6350">
            <a:solidFill>
              <a:srgbClr val="14B8A6"/>
            </a:solidFill>
            <a:prstDash val="solid"/>
          </a:ln>
        </p:spPr>
        <p:txBody>
          <a:bodyPr/>
          <a:lstStyle/>
          <a:p>
            <a:endParaRPr lang="en-US"/>
          </a:p>
        </p:txBody>
      </p:sp>
      <p:sp>
        <p:nvSpPr>
          <p:cNvPr id="30" name="Text 28"/>
          <p:cNvSpPr/>
          <p:nvPr/>
        </p:nvSpPr>
        <p:spPr>
          <a:xfrm>
            <a:off x="6263640" y="4078224"/>
            <a:ext cx="2560320" cy="274320"/>
          </a:xfrm>
          <a:prstGeom prst="rect">
            <a:avLst/>
          </a:prstGeom>
          <a:noFill/>
          <a:ln/>
        </p:spPr>
        <p:txBody>
          <a:bodyPr wrap="square" lIns="0" tIns="0" rIns="0" bIns="0" rtlCol="0" anchor="ctr"/>
          <a:lstStyle/>
          <a:p>
            <a:pPr marL="0" indent="0">
              <a:buNone/>
            </a:pPr>
            <a:r>
              <a:rPr lang="en-US" sz="900" b="1" dirty="0">
                <a:solidFill>
                  <a:srgbClr val="1C2951"/>
                </a:solidFill>
                <a:latin typeface="Calibri" pitchFamily="34" charset="0"/>
                <a:ea typeface="Calibri" pitchFamily="34" charset="-122"/>
                <a:cs typeface="Calibri" pitchFamily="34" charset="-120"/>
              </a:rPr>
              <a:t>Multi-Camera Analysis: </a:t>
            </a:r>
            <a:endParaRPr lang="en-US" sz="900" dirty="0"/>
          </a:p>
        </p:txBody>
      </p:sp>
      <p:sp>
        <p:nvSpPr>
          <p:cNvPr id="31" name="Shape 29"/>
          <p:cNvSpPr/>
          <p:nvPr/>
        </p:nvSpPr>
        <p:spPr>
          <a:xfrm>
            <a:off x="320040" y="4443984"/>
            <a:ext cx="2743200" cy="347472"/>
          </a:xfrm>
          <a:prstGeom prst="rect">
            <a:avLst/>
          </a:prstGeom>
          <a:solidFill>
            <a:srgbClr val="EEF9F7"/>
          </a:solidFill>
          <a:ln w="6350">
            <a:solidFill>
              <a:srgbClr val="14B8A6"/>
            </a:solidFill>
            <a:prstDash val="solid"/>
          </a:ln>
        </p:spPr>
        <p:txBody>
          <a:bodyPr/>
          <a:lstStyle/>
          <a:p>
            <a:endParaRPr lang="en-US"/>
          </a:p>
        </p:txBody>
      </p:sp>
      <p:sp>
        <p:nvSpPr>
          <p:cNvPr id="32" name="Text 30"/>
          <p:cNvSpPr/>
          <p:nvPr/>
        </p:nvSpPr>
        <p:spPr>
          <a:xfrm>
            <a:off x="411480" y="4480560"/>
            <a:ext cx="2560320" cy="274320"/>
          </a:xfrm>
          <a:prstGeom prst="rect">
            <a:avLst/>
          </a:prstGeom>
          <a:noFill/>
          <a:ln/>
        </p:spPr>
        <p:txBody>
          <a:bodyPr wrap="square" lIns="0" tIns="0" rIns="0" bIns="0" rtlCol="0" anchor="ctr"/>
          <a:lstStyle/>
          <a:p>
            <a:pPr marL="0" indent="0">
              <a:buNone/>
            </a:pPr>
            <a:r>
              <a:rPr lang="en-US" sz="900" b="1" dirty="0">
                <a:solidFill>
                  <a:srgbClr val="1C2951"/>
                </a:solidFill>
                <a:latin typeface="Calibri" pitchFamily="34" charset="0"/>
                <a:ea typeface="Calibri" pitchFamily="34" charset="-122"/>
                <a:cs typeface="Calibri" pitchFamily="34" charset="-120"/>
              </a:rPr>
              <a:t>User-Friendly Interface: </a:t>
            </a:r>
            <a:endParaRPr lang="en-US" sz="900" dirty="0"/>
          </a:p>
        </p:txBody>
      </p:sp>
      <p:sp>
        <p:nvSpPr>
          <p:cNvPr id="33" name="Shape 31"/>
          <p:cNvSpPr/>
          <p:nvPr/>
        </p:nvSpPr>
        <p:spPr>
          <a:xfrm>
            <a:off x="3246120" y="4443984"/>
            <a:ext cx="2743200" cy="347472"/>
          </a:xfrm>
          <a:prstGeom prst="rect">
            <a:avLst/>
          </a:prstGeom>
          <a:solidFill>
            <a:srgbClr val="EEF9F7"/>
          </a:solidFill>
          <a:ln w="6350">
            <a:solidFill>
              <a:srgbClr val="14B8A6"/>
            </a:solidFill>
            <a:prstDash val="solid"/>
          </a:ln>
        </p:spPr>
        <p:txBody>
          <a:bodyPr/>
          <a:lstStyle/>
          <a:p>
            <a:endParaRPr lang="en-US"/>
          </a:p>
        </p:txBody>
      </p:sp>
      <p:sp>
        <p:nvSpPr>
          <p:cNvPr id="34" name="Text 32"/>
          <p:cNvSpPr/>
          <p:nvPr/>
        </p:nvSpPr>
        <p:spPr>
          <a:xfrm>
            <a:off x="3337560" y="4480560"/>
            <a:ext cx="2560320" cy="274320"/>
          </a:xfrm>
          <a:prstGeom prst="rect">
            <a:avLst/>
          </a:prstGeom>
          <a:noFill/>
          <a:ln/>
        </p:spPr>
        <p:txBody>
          <a:bodyPr wrap="square" lIns="0" tIns="0" rIns="0" bIns="0" rtlCol="0" anchor="ctr"/>
          <a:lstStyle/>
          <a:p>
            <a:pPr marL="0" indent="0">
              <a:buNone/>
            </a:pPr>
            <a:r>
              <a:rPr lang="en-US" sz="900" b="1" dirty="0">
                <a:solidFill>
                  <a:srgbClr val="1C2951"/>
                </a:solidFill>
                <a:latin typeface="Calibri" pitchFamily="34" charset="0"/>
                <a:ea typeface="Calibri" pitchFamily="34" charset="-122"/>
                <a:cs typeface="Calibri" pitchFamily="34" charset="-120"/>
              </a:rPr>
              <a:t>Signal-Based Analysis: </a:t>
            </a:r>
            <a:endParaRPr lang="en-US" sz="900" dirty="0"/>
          </a:p>
        </p:txBody>
      </p:sp>
      <p:sp>
        <p:nvSpPr>
          <p:cNvPr id="35" name="Shape 33"/>
          <p:cNvSpPr/>
          <p:nvPr/>
        </p:nvSpPr>
        <p:spPr>
          <a:xfrm>
            <a:off x="6172200" y="4443984"/>
            <a:ext cx="2743200" cy="347472"/>
          </a:xfrm>
          <a:prstGeom prst="rect">
            <a:avLst/>
          </a:prstGeom>
          <a:solidFill>
            <a:srgbClr val="EEF9F7"/>
          </a:solidFill>
          <a:ln w="6350">
            <a:solidFill>
              <a:srgbClr val="14B8A6"/>
            </a:solidFill>
            <a:prstDash val="solid"/>
          </a:ln>
        </p:spPr>
        <p:txBody>
          <a:bodyPr/>
          <a:lstStyle/>
          <a:p>
            <a:endParaRPr lang="en-US"/>
          </a:p>
        </p:txBody>
      </p:sp>
      <p:sp>
        <p:nvSpPr>
          <p:cNvPr id="36" name="Text 34"/>
          <p:cNvSpPr/>
          <p:nvPr/>
        </p:nvSpPr>
        <p:spPr>
          <a:xfrm>
            <a:off x="6263640" y="4480560"/>
            <a:ext cx="2560320" cy="128016"/>
          </a:xfrm>
          <a:prstGeom prst="rect">
            <a:avLst/>
          </a:prstGeom>
          <a:noFill/>
          <a:ln/>
        </p:spPr>
        <p:txBody>
          <a:bodyPr wrap="square" lIns="0" tIns="0" rIns="0" bIns="0" rtlCol="0" anchor="ctr"/>
          <a:lstStyle/>
          <a:p>
            <a:pPr marL="0" indent="0">
              <a:buNone/>
            </a:pPr>
            <a:r>
              <a:rPr lang="en-US" sz="900" b="1" dirty="0">
                <a:solidFill>
                  <a:srgbClr val="1C2951"/>
                </a:solidFill>
                <a:latin typeface="Calibri" pitchFamily="34" charset="0"/>
                <a:ea typeface="Calibri" pitchFamily="34" charset="-122"/>
                <a:cs typeface="Calibri" pitchFamily="34" charset="-120"/>
              </a:rPr>
              <a:t>Interactive Tooltips: </a:t>
            </a:r>
            <a:endParaRPr lang="en-US" sz="900" dirty="0"/>
          </a:p>
        </p:txBody>
      </p:sp>
      <p:sp>
        <p:nvSpPr>
          <p:cNvPr id="37" name="Text 35"/>
          <p:cNvSpPr/>
          <p:nvPr/>
        </p:nvSpPr>
        <p:spPr>
          <a:xfrm>
            <a:off x="352044" y="4160520"/>
            <a:ext cx="2592324" cy="237744"/>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Dashboard updates dynamically from live PostgreSQL data.</a:t>
            </a:r>
            <a:endParaRPr lang="en-US" sz="850" dirty="0"/>
          </a:p>
        </p:txBody>
      </p:sp>
      <p:sp>
        <p:nvSpPr>
          <p:cNvPr id="38" name="Text 36"/>
          <p:cNvSpPr/>
          <p:nvPr/>
        </p:nvSpPr>
        <p:spPr>
          <a:xfrm>
            <a:off x="3337560" y="4206240"/>
            <a:ext cx="2560320" cy="182880"/>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Pie, bar, and line charts for multiple data perspectives.</a:t>
            </a:r>
            <a:endParaRPr lang="en-US" sz="850" dirty="0"/>
          </a:p>
        </p:txBody>
      </p:sp>
      <p:sp>
        <p:nvSpPr>
          <p:cNvPr id="39" name="Text 37"/>
          <p:cNvSpPr/>
          <p:nvPr/>
        </p:nvSpPr>
        <p:spPr>
          <a:xfrm>
            <a:off x="6263640" y="4206240"/>
            <a:ext cx="2560320" cy="182880"/>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All three cameras can be viewed individually or together.</a:t>
            </a:r>
            <a:endParaRPr lang="en-US" sz="850" dirty="0"/>
          </a:p>
        </p:txBody>
      </p:sp>
      <p:sp>
        <p:nvSpPr>
          <p:cNvPr id="40" name="Text 38"/>
          <p:cNvSpPr/>
          <p:nvPr/>
        </p:nvSpPr>
        <p:spPr>
          <a:xfrm>
            <a:off x="411480" y="4608576"/>
            <a:ext cx="2560320" cy="182880"/>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Filters &amp; dropdowns for customizable analytical views.</a:t>
            </a:r>
            <a:endParaRPr lang="en-US" sz="850" dirty="0"/>
          </a:p>
        </p:txBody>
      </p:sp>
      <p:sp>
        <p:nvSpPr>
          <p:cNvPr id="41" name="Text 39"/>
          <p:cNvSpPr/>
          <p:nvPr/>
        </p:nvSpPr>
        <p:spPr>
          <a:xfrm>
            <a:off x="3337560" y="4608576"/>
            <a:ext cx="2560320" cy="182880"/>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Localized traffic patterns for EGA Theatre Signal.</a:t>
            </a:r>
            <a:endParaRPr lang="en-US" sz="850" dirty="0"/>
          </a:p>
        </p:txBody>
      </p:sp>
      <p:sp>
        <p:nvSpPr>
          <p:cNvPr id="42" name="Text 40"/>
          <p:cNvSpPr/>
          <p:nvPr/>
        </p:nvSpPr>
        <p:spPr>
          <a:xfrm>
            <a:off x="6263640" y="4608576"/>
            <a:ext cx="2560320" cy="182880"/>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Detailed data points visible on hover for each chart element.</a:t>
            </a:r>
            <a:endParaRPr lang="en-US" sz="850" dirty="0"/>
          </a:p>
        </p:txBody>
      </p:sp>
      <p:sp>
        <p:nvSpPr>
          <p:cNvPr id="43" name="Shape 41"/>
          <p:cNvSpPr/>
          <p:nvPr/>
        </p:nvSpPr>
        <p:spPr>
          <a:xfrm>
            <a:off x="0" y="4873752"/>
            <a:ext cx="9144000" cy="274320"/>
          </a:xfrm>
          <a:prstGeom prst="rect">
            <a:avLst/>
          </a:prstGeom>
          <a:solidFill>
            <a:srgbClr val="1C2951"/>
          </a:solidFill>
          <a:ln w="12700">
            <a:solidFill>
              <a:srgbClr val="1C2951"/>
            </a:solidFill>
            <a:prstDash val="solid"/>
          </a:ln>
        </p:spPr>
        <p:txBody>
          <a:bodyPr/>
          <a:lstStyle/>
          <a:p>
            <a:endParaRPr lang="en-US"/>
          </a:p>
        </p:txBody>
      </p:sp>
      <p:sp>
        <p:nvSpPr>
          <p:cNvPr id="44" name="Text 42"/>
          <p:cNvSpPr/>
          <p:nvPr/>
        </p:nvSpPr>
        <p:spPr>
          <a:xfrm>
            <a:off x="274320" y="4873752"/>
            <a:ext cx="8595360" cy="274320"/>
          </a:xfrm>
          <a:prstGeom prst="rect">
            <a:avLst/>
          </a:prstGeom>
          <a:noFill/>
          <a:ln/>
        </p:spPr>
        <p:txBody>
          <a:bodyPr wrap="square" lIns="0" tIns="0" rIns="0" bIns="0" rtlCol="0" anchor="ctr"/>
          <a:lstStyle/>
          <a:p>
            <a:pPr marL="0" indent="0">
              <a:buNone/>
            </a:pPr>
            <a:r>
              <a:rPr lang="en-US" sz="800" dirty="0">
                <a:solidFill>
                  <a:srgbClr val="A0AEC0"/>
                </a:solidFill>
                <a:latin typeface="Calibri" pitchFamily="34" charset="0"/>
                <a:ea typeface="Calibri" pitchFamily="34" charset="-122"/>
                <a:cs typeface="Calibri" pitchFamily="34" charset="-120"/>
              </a:rPr>
              <a:t>Data Science Internship  |  CUMTA  |  Manoj Kumar D</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9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43519"/>
          </a:xfrm>
          <a:prstGeom prst="rect">
            <a:avLst/>
          </a:prstGeom>
          <a:solidFill>
            <a:srgbClr val="1C2951"/>
          </a:solidFill>
          <a:ln w="12700">
            <a:solidFill>
              <a:srgbClr val="1C2951"/>
            </a:solidFill>
            <a:prstDash val="solid"/>
          </a:ln>
        </p:spPr>
        <p:txBody>
          <a:bodyPr/>
          <a:lstStyle/>
          <a:p>
            <a:endParaRPr lang="en-US"/>
          </a:p>
        </p:txBody>
      </p:sp>
      <p:sp>
        <p:nvSpPr>
          <p:cNvPr id="3" name="Shape 1"/>
          <p:cNvSpPr/>
          <p:nvPr/>
        </p:nvSpPr>
        <p:spPr>
          <a:xfrm flipV="1">
            <a:off x="0" y="850392"/>
            <a:ext cx="9144000" cy="45719"/>
          </a:xfrm>
          <a:prstGeom prst="rect">
            <a:avLst/>
          </a:prstGeom>
          <a:solidFill>
            <a:srgbClr val="0D9488"/>
          </a:solidFill>
          <a:ln w="12700">
            <a:solidFill>
              <a:srgbClr val="0D9488"/>
            </a:solidFill>
            <a:prstDash val="solid"/>
          </a:ln>
        </p:spPr>
        <p:txBody>
          <a:bodyPr/>
          <a:lstStyle/>
          <a:p>
            <a:endParaRPr lang="en-US"/>
          </a:p>
        </p:txBody>
      </p:sp>
      <p:sp>
        <p:nvSpPr>
          <p:cNvPr id="4" name="Text 2"/>
          <p:cNvSpPr/>
          <p:nvPr/>
        </p:nvSpPr>
        <p:spPr>
          <a:xfrm>
            <a:off x="457200" y="0"/>
            <a:ext cx="8229600" cy="10058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Chapter 4, Section III  |  Image Annotation for Vehicle Detection</a:t>
            </a:r>
            <a:endParaRPr lang="en-US" sz="2600" dirty="0"/>
          </a:p>
        </p:txBody>
      </p:sp>
      <p:sp>
        <p:nvSpPr>
          <p:cNvPr id="5" name="Shape 3"/>
          <p:cNvSpPr/>
          <p:nvPr/>
        </p:nvSpPr>
        <p:spPr>
          <a:xfrm>
            <a:off x="274320" y="1034959"/>
            <a:ext cx="8503920" cy="749808"/>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274320" y="1034959"/>
            <a:ext cx="64008" cy="749808"/>
          </a:xfrm>
          <a:prstGeom prst="rect">
            <a:avLst/>
          </a:prstGeom>
          <a:solidFill>
            <a:srgbClr val="0D9488"/>
          </a:solidFill>
          <a:ln w="12700">
            <a:solidFill>
              <a:srgbClr val="0D9488"/>
            </a:solidFill>
            <a:prstDash val="solid"/>
          </a:ln>
        </p:spPr>
        <p:txBody>
          <a:bodyPr/>
          <a:lstStyle/>
          <a:p>
            <a:endParaRPr lang="en-US"/>
          </a:p>
        </p:txBody>
      </p:sp>
      <p:sp>
        <p:nvSpPr>
          <p:cNvPr id="7" name="Text 5"/>
          <p:cNvSpPr/>
          <p:nvPr/>
        </p:nvSpPr>
        <p:spPr>
          <a:xfrm>
            <a:off x="484632" y="1089823"/>
            <a:ext cx="8046720" cy="256032"/>
          </a:xfrm>
          <a:prstGeom prst="rect">
            <a:avLst/>
          </a:prstGeom>
          <a:noFill/>
          <a:ln/>
        </p:spPr>
        <p:txBody>
          <a:bodyPr wrap="square" lIns="0" tIns="0" rIns="0" bIns="0" rtlCol="0" anchor="ctr"/>
          <a:lstStyle/>
          <a:p>
            <a:pPr marL="0" indent="0">
              <a:buNone/>
            </a:pPr>
            <a:r>
              <a:rPr lang="en-US" sz="1200" b="1" dirty="0">
                <a:solidFill>
                  <a:srgbClr val="1C2951"/>
                </a:solidFill>
                <a:latin typeface="Calibri" pitchFamily="34" charset="0"/>
                <a:ea typeface="Calibri" pitchFamily="34" charset="-122"/>
                <a:cs typeface="Calibri" pitchFamily="34" charset="-120"/>
              </a:rPr>
              <a:t>Proposed Solution</a:t>
            </a:r>
            <a:endParaRPr lang="en-US" sz="1200" dirty="0"/>
          </a:p>
        </p:txBody>
      </p:sp>
      <p:sp>
        <p:nvSpPr>
          <p:cNvPr id="8" name="Text 6"/>
          <p:cNvSpPr/>
          <p:nvPr/>
        </p:nvSpPr>
        <p:spPr>
          <a:xfrm>
            <a:off x="484632" y="1354999"/>
            <a:ext cx="8046720" cy="38404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Label Indian vehicles from CUMTA's CCTV footage using Roboflow polygon annotation. The resulting 2,019-image dataset enables AI model training for real-world traffic monitoring. Video frames were extracted using OpenCV and annotated across 9 vehicle classes.</a:t>
            </a:r>
            <a:endParaRPr lang="en-US" sz="1000" dirty="0"/>
          </a:p>
        </p:txBody>
      </p:sp>
      <p:sp>
        <p:nvSpPr>
          <p:cNvPr id="9" name="Text 7"/>
          <p:cNvSpPr/>
          <p:nvPr/>
        </p:nvSpPr>
        <p:spPr>
          <a:xfrm>
            <a:off x="274320" y="1856232"/>
            <a:ext cx="8503920" cy="228600"/>
          </a:xfrm>
          <a:prstGeom prst="rect">
            <a:avLst/>
          </a:prstGeom>
          <a:noFill/>
          <a:ln/>
        </p:spPr>
        <p:txBody>
          <a:bodyPr wrap="square" lIns="0" tIns="0" rIns="0" bIns="0" rtlCol="0" anchor="ctr"/>
          <a:lstStyle/>
          <a:p>
            <a:pPr marL="0" indent="0">
              <a:buNone/>
            </a:pPr>
            <a:r>
              <a:rPr lang="en-US" sz="900" b="1" kern="0" spc="200" dirty="0">
                <a:solidFill>
                  <a:srgbClr val="0D9488"/>
                </a:solidFill>
                <a:latin typeface="Calibri" pitchFamily="34" charset="0"/>
                <a:ea typeface="Calibri" pitchFamily="34" charset="-122"/>
                <a:cs typeface="Calibri" pitchFamily="34" charset="-120"/>
              </a:rPr>
              <a:t>ANNOTATED VEHICLE CLASSES</a:t>
            </a:r>
            <a:endParaRPr lang="en-US" sz="900" dirty="0"/>
          </a:p>
        </p:txBody>
      </p:sp>
      <p:sp>
        <p:nvSpPr>
          <p:cNvPr id="10" name="Shape 8"/>
          <p:cNvSpPr/>
          <p:nvPr/>
        </p:nvSpPr>
        <p:spPr>
          <a:xfrm>
            <a:off x="320040" y="2148840"/>
            <a:ext cx="2743200" cy="347472"/>
          </a:xfrm>
          <a:prstGeom prst="rect">
            <a:avLst/>
          </a:prstGeom>
          <a:solidFill>
            <a:srgbClr val="0D9488">
              <a:alpha val="15000"/>
            </a:srgbClr>
          </a:solidFill>
          <a:ln w="6350">
            <a:solidFill>
              <a:srgbClr val="0D9488"/>
            </a:solidFill>
            <a:prstDash val="solid"/>
          </a:ln>
        </p:spPr>
        <p:txBody>
          <a:bodyPr/>
          <a:lstStyle/>
          <a:p>
            <a:endParaRPr lang="en-US"/>
          </a:p>
        </p:txBody>
      </p:sp>
      <p:sp>
        <p:nvSpPr>
          <p:cNvPr id="11" name="Text 9"/>
          <p:cNvSpPr/>
          <p:nvPr/>
        </p:nvSpPr>
        <p:spPr>
          <a:xfrm>
            <a:off x="429768" y="2203704"/>
            <a:ext cx="2523744" cy="256032"/>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Ambulance</a:t>
            </a:r>
            <a:endParaRPr lang="en-US" sz="1050" dirty="0"/>
          </a:p>
        </p:txBody>
      </p:sp>
      <p:sp>
        <p:nvSpPr>
          <p:cNvPr id="12" name="Shape 10"/>
          <p:cNvSpPr/>
          <p:nvPr/>
        </p:nvSpPr>
        <p:spPr>
          <a:xfrm>
            <a:off x="3246120" y="2148840"/>
            <a:ext cx="2743200" cy="347472"/>
          </a:xfrm>
          <a:prstGeom prst="rect">
            <a:avLst/>
          </a:prstGeom>
          <a:solidFill>
            <a:srgbClr val="14B8A6">
              <a:alpha val="15000"/>
            </a:srgbClr>
          </a:solidFill>
          <a:ln w="6350">
            <a:solidFill>
              <a:srgbClr val="14B8A6"/>
            </a:solidFill>
            <a:prstDash val="solid"/>
          </a:ln>
        </p:spPr>
        <p:txBody>
          <a:bodyPr/>
          <a:lstStyle/>
          <a:p>
            <a:endParaRPr lang="en-US"/>
          </a:p>
        </p:txBody>
      </p:sp>
      <p:sp>
        <p:nvSpPr>
          <p:cNvPr id="13" name="Text 11"/>
          <p:cNvSpPr/>
          <p:nvPr/>
        </p:nvSpPr>
        <p:spPr>
          <a:xfrm>
            <a:off x="3355848" y="2203704"/>
            <a:ext cx="2523744" cy="256032"/>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Auto</a:t>
            </a:r>
            <a:endParaRPr lang="en-US" sz="1050" dirty="0"/>
          </a:p>
        </p:txBody>
      </p:sp>
      <p:sp>
        <p:nvSpPr>
          <p:cNvPr id="14" name="Shape 12"/>
          <p:cNvSpPr/>
          <p:nvPr/>
        </p:nvSpPr>
        <p:spPr>
          <a:xfrm>
            <a:off x="6213380" y="2156557"/>
            <a:ext cx="2743200" cy="347472"/>
          </a:xfrm>
          <a:prstGeom prst="rect">
            <a:avLst/>
          </a:prstGeom>
          <a:solidFill>
            <a:srgbClr val="0F766E">
              <a:alpha val="15000"/>
            </a:srgbClr>
          </a:solidFill>
          <a:ln w="6350">
            <a:solidFill>
              <a:srgbClr val="0F766E"/>
            </a:solidFill>
            <a:prstDash val="solid"/>
          </a:ln>
        </p:spPr>
        <p:txBody>
          <a:bodyPr/>
          <a:lstStyle/>
          <a:p>
            <a:endParaRPr lang="en-US"/>
          </a:p>
        </p:txBody>
      </p:sp>
      <p:sp>
        <p:nvSpPr>
          <p:cNvPr id="15" name="Text 13"/>
          <p:cNvSpPr/>
          <p:nvPr/>
        </p:nvSpPr>
        <p:spPr>
          <a:xfrm>
            <a:off x="6281928" y="2093976"/>
            <a:ext cx="2523744" cy="502920"/>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Bike</a:t>
            </a:r>
            <a:endParaRPr lang="en-US" sz="1050" dirty="0"/>
          </a:p>
        </p:txBody>
      </p:sp>
      <p:sp>
        <p:nvSpPr>
          <p:cNvPr id="16" name="Shape 14"/>
          <p:cNvSpPr/>
          <p:nvPr/>
        </p:nvSpPr>
        <p:spPr>
          <a:xfrm>
            <a:off x="320040" y="2606040"/>
            <a:ext cx="2743200" cy="347472"/>
          </a:xfrm>
          <a:prstGeom prst="rect">
            <a:avLst/>
          </a:prstGeom>
          <a:solidFill>
            <a:srgbClr val="06B6D4">
              <a:alpha val="15000"/>
            </a:srgbClr>
          </a:solidFill>
          <a:ln w="6350">
            <a:solidFill>
              <a:srgbClr val="06B6D4"/>
            </a:solidFill>
            <a:prstDash val="solid"/>
          </a:ln>
        </p:spPr>
        <p:txBody>
          <a:bodyPr/>
          <a:lstStyle/>
          <a:p>
            <a:endParaRPr lang="en-US"/>
          </a:p>
        </p:txBody>
      </p:sp>
      <p:sp>
        <p:nvSpPr>
          <p:cNvPr id="17" name="Text 15"/>
          <p:cNvSpPr/>
          <p:nvPr/>
        </p:nvSpPr>
        <p:spPr>
          <a:xfrm>
            <a:off x="429768" y="2660904"/>
            <a:ext cx="2523744" cy="256032"/>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Bus</a:t>
            </a:r>
            <a:endParaRPr lang="en-US" sz="1050" dirty="0"/>
          </a:p>
        </p:txBody>
      </p:sp>
      <p:sp>
        <p:nvSpPr>
          <p:cNvPr id="18" name="Shape 16"/>
          <p:cNvSpPr/>
          <p:nvPr/>
        </p:nvSpPr>
        <p:spPr>
          <a:xfrm>
            <a:off x="3246120" y="2606040"/>
            <a:ext cx="2743200" cy="347472"/>
          </a:xfrm>
          <a:prstGeom prst="rect">
            <a:avLst/>
          </a:prstGeom>
          <a:solidFill>
            <a:srgbClr val="0284C7">
              <a:alpha val="15000"/>
            </a:srgbClr>
          </a:solidFill>
          <a:ln w="6350">
            <a:solidFill>
              <a:srgbClr val="0284C7"/>
            </a:solidFill>
            <a:prstDash val="solid"/>
          </a:ln>
        </p:spPr>
        <p:txBody>
          <a:bodyPr/>
          <a:lstStyle/>
          <a:p>
            <a:endParaRPr lang="en-US"/>
          </a:p>
        </p:txBody>
      </p:sp>
      <p:sp>
        <p:nvSpPr>
          <p:cNvPr id="19" name="Text 17"/>
          <p:cNvSpPr/>
          <p:nvPr/>
        </p:nvSpPr>
        <p:spPr>
          <a:xfrm>
            <a:off x="3355848" y="2660904"/>
            <a:ext cx="2523744" cy="256032"/>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Car</a:t>
            </a:r>
            <a:endParaRPr lang="en-US" sz="1050" dirty="0"/>
          </a:p>
        </p:txBody>
      </p:sp>
      <p:sp>
        <p:nvSpPr>
          <p:cNvPr id="20" name="Shape 18"/>
          <p:cNvSpPr/>
          <p:nvPr/>
        </p:nvSpPr>
        <p:spPr>
          <a:xfrm>
            <a:off x="6213380" y="2647188"/>
            <a:ext cx="2743200" cy="347472"/>
          </a:xfrm>
          <a:prstGeom prst="rect">
            <a:avLst/>
          </a:prstGeom>
          <a:solidFill>
            <a:srgbClr val="1D4ED8">
              <a:alpha val="15000"/>
            </a:srgbClr>
          </a:solidFill>
          <a:ln w="6350">
            <a:solidFill>
              <a:srgbClr val="1D4ED8"/>
            </a:solidFill>
            <a:prstDash val="solid"/>
          </a:ln>
        </p:spPr>
        <p:txBody>
          <a:bodyPr/>
          <a:lstStyle/>
          <a:p>
            <a:endParaRPr lang="en-US"/>
          </a:p>
        </p:txBody>
      </p:sp>
      <p:sp>
        <p:nvSpPr>
          <p:cNvPr id="21" name="Text 19"/>
          <p:cNvSpPr/>
          <p:nvPr/>
        </p:nvSpPr>
        <p:spPr>
          <a:xfrm>
            <a:off x="6281928" y="2626468"/>
            <a:ext cx="2523744" cy="427628"/>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College Bus</a:t>
            </a:r>
            <a:endParaRPr lang="en-US" sz="1050" dirty="0"/>
          </a:p>
        </p:txBody>
      </p:sp>
      <p:sp>
        <p:nvSpPr>
          <p:cNvPr id="22" name="Shape 20"/>
          <p:cNvSpPr/>
          <p:nvPr/>
        </p:nvSpPr>
        <p:spPr>
          <a:xfrm>
            <a:off x="320040" y="3200400"/>
            <a:ext cx="2743200" cy="347472"/>
          </a:xfrm>
          <a:prstGeom prst="rect">
            <a:avLst/>
          </a:prstGeom>
          <a:solidFill>
            <a:srgbClr val="4F46E5">
              <a:alpha val="15000"/>
            </a:srgbClr>
          </a:solidFill>
          <a:ln w="6350">
            <a:solidFill>
              <a:srgbClr val="4F46E5"/>
            </a:solidFill>
            <a:prstDash val="solid"/>
          </a:ln>
        </p:spPr>
        <p:txBody>
          <a:bodyPr/>
          <a:lstStyle/>
          <a:p>
            <a:endParaRPr lang="en-US"/>
          </a:p>
        </p:txBody>
      </p:sp>
      <p:sp>
        <p:nvSpPr>
          <p:cNvPr id="23" name="Text 21"/>
          <p:cNvSpPr/>
          <p:nvPr/>
        </p:nvSpPr>
        <p:spPr>
          <a:xfrm>
            <a:off x="429768" y="3255264"/>
            <a:ext cx="2523744" cy="256032"/>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LCV</a:t>
            </a:r>
            <a:endParaRPr lang="en-US" sz="1050" dirty="0"/>
          </a:p>
        </p:txBody>
      </p:sp>
      <p:sp>
        <p:nvSpPr>
          <p:cNvPr id="24" name="Shape 22"/>
          <p:cNvSpPr/>
          <p:nvPr/>
        </p:nvSpPr>
        <p:spPr>
          <a:xfrm>
            <a:off x="3246120" y="3200400"/>
            <a:ext cx="2743200" cy="347472"/>
          </a:xfrm>
          <a:prstGeom prst="rect">
            <a:avLst/>
          </a:prstGeom>
          <a:solidFill>
            <a:srgbClr val="7C3AED">
              <a:alpha val="15000"/>
            </a:srgbClr>
          </a:solidFill>
          <a:ln w="6350">
            <a:solidFill>
              <a:srgbClr val="7C3AED"/>
            </a:solidFill>
            <a:prstDash val="solid"/>
          </a:ln>
        </p:spPr>
        <p:txBody>
          <a:bodyPr/>
          <a:lstStyle/>
          <a:p>
            <a:endParaRPr lang="en-US"/>
          </a:p>
        </p:txBody>
      </p:sp>
      <p:sp>
        <p:nvSpPr>
          <p:cNvPr id="25" name="Text 23"/>
          <p:cNvSpPr/>
          <p:nvPr/>
        </p:nvSpPr>
        <p:spPr>
          <a:xfrm>
            <a:off x="3355848" y="3255264"/>
            <a:ext cx="2523744" cy="256032"/>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Pedestrian</a:t>
            </a:r>
            <a:endParaRPr lang="en-US" sz="1050" dirty="0"/>
          </a:p>
        </p:txBody>
      </p:sp>
      <p:sp>
        <p:nvSpPr>
          <p:cNvPr id="26" name="Shape 24"/>
          <p:cNvSpPr/>
          <p:nvPr/>
        </p:nvSpPr>
        <p:spPr>
          <a:xfrm>
            <a:off x="6172200" y="3195828"/>
            <a:ext cx="2743200" cy="366764"/>
          </a:xfrm>
          <a:prstGeom prst="rect">
            <a:avLst/>
          </a:prstGeom>
          <a:solidFill>
            <a:srgbClr val="9333EA">
              <a:alpha val="15000"/>
            </a:srgbClr>
          </a:solidFill>
          <a:ln w="6350">
            <a:solidFill>
              <a:srgbClr val="9333EA"/>
            </a:solidFill>
            <a:prstDash val="solid"/>
          </a:ln>
        </p:spPr>
        <p:txBody>
          <a:bodyPr/>
          <a:lstStyle/>
          <a:p>
            <a:endParaRPr lang="en-US"/>
          </a:p>
        </p:txBody>
      </p:sp>
      <p:sp>
        <p:nvSpPr>
          <p:cNvPr id="27" name="Text 25"/>
          <p:cNvSpPr/>
          <p:nvPr/>
        </p:nvSpPr>
        <p:spPr>
          <a:xfrm>
            <a:off x="6281928" y="3227832"/>
            <a:ext cx="2523744" cy="283464"/>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Truck</a:t>
            </a:r>
            <a:endParaRPr lang="en-US" sz="1050" dirty="0"/>
          </a:p>
        </p:txBody>
      </p:sp>
      <p:sp>
        <p:nvSpPr>
          <p:cNvPr id="28" name="Shape 26"/>
          <p:cNvSpPr/>
          <p:nvPr/>
        </p:nvSpPr>
        <p:spPr>
          <a:xfrm>
            <a:off x="274320" y="3654033"/>
            <a:ext cx="2834640" cy="50292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9" name="Shape 27"/>
          <p:cNvSpPr/>
          <p:nvPr/>
        </p:nvSpPr>
        <p:spPr>
          <a:xfrm>
            <a:off x="3044952" y="3682746"/>
            <a:ext cx="64008" cy="502920"/>
          </a:xfrm>
          <a:prstGeom prst="rect">
            <a:avLst/>
          </a:prstGeom>
          <a:solidFill>
            <a:srgbClr val="0D9488"/>
          </a:solidFill>
          <a:ln w="12700">
            <a:solidFill>
              <a:srgbClr val="0D9488"/>
            </a:solidFill>
            <a:prstDash val="solid"/>
          </a:ln>
        </p:spPr>
        <p:txBody>
          <a:bodyPr/>
          <a:lstStyle/>
          <a:p>
            <a:endParaRPr lang="en-US"/>
          </a:p>
        </p:txBody>
      </p:sp>
      <p:sp>
        <p:nvSpPr>
          <p:cNvPr id="30" name="Text 28"/>
          <p:cNvSpPr/>
          <p:nvPr/>
        </p:nvSpPr>
        <p:spPr>
          <a:xfrm>
            <a:off x="350423" y="3674008"/>
            <a:ext cx="2514600" cy="201168"/>
          </a:xfrm>
          <a:prstGeom prst="rect">
            <a:avLst/>
          </a:prstGeom>
          <a:noFill/>
          <a:ln/>
        </p:spPr>
        <p:txBody>
          <a:bodyPr wrap="square" lIns="0" tIns="0" rIns="0" bIns="0" rtlCol="0" anchor="ctr"/>
          <a:lstStyle/>
          <a:p>
            <a:pPr marL="0" indent="0">
              <a:buNone/>
            </a:pPr>
            <a:r>
              <a:rPr lang="en-US" sz="1000" b="1" dirty="0">
                <a:solidFill>
                  <a:srgbClr val="1C2951"/>
                </a:solidFill>
                <a:latin typeface="Calibri" pitchFamily="34" charset="0"/>
                <a:ea typeface="Calibri" pitchFamily="34" charset="-122"/>
                <a:cs typeface="Calibri" pitchFamily="34" charset="-120"/>
              </a:rPr>
              <a:t>Dataset Prep</a:t>
            </a:r>
            <a:endParaRPr lang="en-US" sz="1000" dirty="0"/>
          </a:p>
        </p:txBody>
      </p:sp>
      <p:sp>
        <p:nvSpPr>
          <p:cNvPr id="31" name="Text 29"/>
          <p:cNvSpPr/>
          <p:nvPr/>
        </p:nvSpPr>
        <p:spPr>
          <a:xfrm>
            <a:off x="352044" y="3894598"/>
            <a:ext cx="2514600" cy="219456"/>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2,019 frames extracted from video using OpenCV at evenly-spaced intervals.</a:t>
            </a:r>
            <a:endParaRPr lang="en-US" sz="850" dirty="0"/>
          </a:p>
        </p:txBody>
      </p:sp>
      <p:sp>
        <p:nvSpPr>
          <p:cNvPr id="32" name="Shape 30"/>
          <p:cNvSpPr/>
          <p:nvPr/>
        </p:nvSpPr>
        <p:spPr>
          <a:xfrm>
            <a:off x="3200400" y="3667295"/>
            <a:ext cx="2834640" cy="50292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34" name="Text 32"/>
          <p:cNvSpPr/>
          <p:nvPr/>
        </p:nvSpPr>
        <p:spPr>
          <a:xfrm>
            <a:off x="3276503" y="3648456"/>
            <a:ext cx="2514600" cy="201168"/>
          </a:xfrm>
          <a:prstGeom prst="rect">
            <a:avLst/>
          </a:prstGeom>
          <a:noFill/>
          <a:ln/>
        </p:spPr>
        <p:txBody>
          <a:bodyPr wrap="square" lIns="0" tIns="0" rIns="0" bIns="0" rtlCol="0" anchor="ctr"/>
          <a:lstStyle/>
          <a:p>
            <a:pPr marL="0" indent="0">
              <a:buNone/>
            </a:pPr>
            <a:r>
              <a:rPr lang="en-US" sz="1000" b="1" dirty="0">
                <a:solidFill>
                  <a:srgbClr val="1C2951"/>
                </a:solidFill>
                <a:latin typeface="Calibri" pitchFamily="34" charset="0"/>
                <a:ea typeface="Calibri" pitchFamily="34" charset="-122"/>
                <a:cs typeface="Calibri" pitchFamily="34" charset="-120"/>
              </a:rPr>
              <a:t>Annotation</a:t>
            </a:r>
            <a:endParaRPr lang="en-US" sz="1000" dirty="0"/>
          </a:p>
        </p:txBody>
      </p:sp>
      <p:sp>
        <p:nvSpPr>
          <p:cNvPr id="35" name="Text 33"/>
          <p:cNvSpPr/>
          <p:nvPr/>
        </p:nvSpPr>
        <p:spPr>
          <a:xfrm>
            <a:off x="3276503" y="3880104"/>
            <a:ext cx="2514600" cy="219456"/>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Polygon annotation in Roboflow. Labels saved with metadata for model compatibility.</a:t>
            </a:r>
            <a:endParaRPr lang="en-US" sz="850" dirty="0"/>
          </a:p>
        </p:txBody>
      </p:sp>
      <p:sp>
        <p:nvSpPr>
          <p:cNvPr id="37" name="Shape 35"/>
          <p:cNvSpPr/>
          <p:nvPr/>
        </p:nvSpPr>
        <p:spPr>
          <a:xfrm>
            <a:off x="5944670" y="3689604"/>
            <a:ext cx="64008" cy="502920"/>
          </a:xfrm>
          <a:prstGeom prst="rect">
            <a:avLst/>
          </a:prstGeom>
          <a:solidFill>
            <a:srgbClr val="0D9488"/>
          </a:solidFill>
          <a:ln w="12700">
            <a:solidFill>
              <a:srgbClr val="0D9488"/>
            </a:solidFill>
            <a:prstDash val="solid"/>
          </a:ln>
        </p:spPr>
        <p:txBody>
          <a:bodyPr/>
          <a:lstStyle/>
          <a:p>
            <a:endParaRPr lang="en-US"/>
          </a:p>
        </p:txBody>
      </p:sp>
      <p:sp>
        <p:nvSpPr>
          <p:cNvPr id="38" name="Text 36"/>
          <p:cNvSpPr/>
          <p:nvPr/>
        </p:nvSpPr>
        <p:spPr>
          <a:xfrm>
            <a:off x="6172200" y="3520440"/>
            <a:ext cx="2514600" cy="201168"/>
          </a:xfrm>
          <a:prstGeom prst="rect">
            <a:avLst/>
          </a:prstGeom>
          <a:noFill/>
          <a:ln/>
        </p:spPr>
        <p:txBody>
          <a:bodyPr wrap="square" lIns="0" tIns="0" rIns="0" bIns="0" rtlCol="0" anchor="ctr"/>
          <a:lstStyle/>
          <a:p>
            <a:pPr marL="0" indent="0">
              <a:buNone/>
            </a:pPr>
            <a:endParaRPr lang="en-US" sz="1000" dirty="0"/>
          </a:p>
        </p:txBody>
      </p:sp>
      <p:sp>
        <p:nvSpPr>
          <p:cNvPr id="40" name="Shape 38"/>
          <p:cNvSpPr/>
          <p:nvPr/>
        </p:nvSpPr>
        <p:spPr>
          <a:xfrm>
            <a:off x="6126480" y="3662172"/>
            <a:ext cx="2834640" cy="50292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42" name="Text 40"/>
          <p:cNvSpPr/>
          <p:nvPr/>
        </p:nvSpPr>
        <p:spPr>
          <a:xfrm>
            <a:off x="6172200" y="3666744"/>
            <a:ext cx="2514600" cy="219456"/>
          </a:xfrm>
          <a:prstGeom prst="rect">
            <a:avLst/>
          </a:prstGeom>
          <a:noFill/>
          <a:ln/>
        </p:spPr>
        <p:txBody>
          <a:bodyPr wrap="square" lIns="0" tIns="0" rIns="0" bIns="0" rtlCol="0" anchor="ctr"/>
          <a:lstStyle/>
          <a:p>
            <a:pPr marL="0" indent="0">
              <a:buNone/>
            </a:pPr>
            <a:r>
              <a:rPr lang="en-US" sz="1000" b="1" dirty="0">
                <a:solidFill>
                  <a:srgbClr val="1C2951"/>
                </a:solidFill>
                <a:latin typeface="Calibri" pitchFamily="34" charset="0"/>
                <a:ea typeface="Calibri" pitchFamily="34" charset="-122"/>
                <a:cs typeface="Calibri" pitchFamily="34" charset="-120"/>
              </a:rPr>
              <a:t>Data Export</a:t>
            </a:r>
            <a:endParaRPr lang="en-US" sz="1000" dirty="0"/>
          </a:p>
        </p:txBody>
      </p:sp>
      <p:sp>
        <p:nvSpPr>
          <p:cNvPr id="43" name="Text 41"/>
          <p:cNvSpPr/>
          <p:nvPr/>
        </p:nvSpPr>
        <p:spPr>
          <a:xfrm>
            <a:off x="6172200" y="3894598"/>
            <a:ext cx="2514600" cy="219456"/>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Exported in YOLOv5 format for object detection model training.</a:t>
            </a:r>
            <a:endParaRPr lang="en-US" sz="850" dirty="0"/>
          </a:p>
        </p:txBody>
      </p:sp>
      <p:sp>
        <p:nvSpPr>
          <p:cNvPr id="44" name="Shape 42"/>
          <p:cNvSpPr/>
          <p:nvPr/>
        </p:nvSpPr>
        <p:spPr>
          <a:xfrm>
            <a:off x="320040" y="4279392"/>
            <a:ext cx="8549640" cy="502920"/>
          </a:xfrm>
          <a:prstGeom prst="rect">
            <a:avLst/>
          </a:prstGeom>
          <a:solidFill>
            <a:srgbClr val="1C2951"/>
          </a:solidFill>
          <a:ln w="12700">
            <a:solidFill>
              <a:srgbClr val="1C2951"/>
            </a:solidFill>
            <a:prstDash val="solid"/>
          </a:ln>
        </p:spPr>
        <p:txBody>
          <a:bodyPr/>
          <a:lstStyle/>
          <a:p>
            <a:endParaRPr lang="en-US" dirty="0"/>
          </a:p>
        </p:txBody>
      </p:sp>
      <p:sp>
        <p:nvSpPr>
          <p:cNvPr id="45" name="Text 43"/>
          <p:cNvSpPr/>
          <p:nvPr/>
        </p:nvSpPr>
        <p:spPr>
          <a:xfrm>
            <a:off x="502920" y="4315968"/>
            <a:ext cx="1828800" cy="201168"/>
          </a:xfrm>
          <a:prstGeom prst="rect">
            <a:avLst/>
          </a:prstGeom>
          <a:noFill/>
          <a:ln/>
        </p:spPr>
        <p:txBody>
          <a:bodyPr wrap="square" lIns="0" tIns="0" rIns="0" bIns="0" rtlCol="0" anchor="ctr"/>
          <a:lstStyle/>
          <a:p>
            <a:pPr marL="0" indent="0">
              <a:buNone/>
            </a:pPr>
            <a:r>
              <a:rPr lang="en-US" sz="1300" b="1" dirty="0">
                <a:solidFill>
                  <a:srgbClr val="14B8A6"/>
                </a:solidFill>
                <a:latin typeface="Georgia" pitchFamily="34" charset="0"/>
                <a:ea typeface="Georgia" pitchFamily="34" charset="-122"/>
                <a:cs typeface="Georgia" pitchFamily="34" charset="-120"/>
              </a:rPr>
              <a:t>2,019</a:t>
            </a:r>
            <a:endParaRPr lang="en-US" sz="1300" dirty="0"/>
          </a:p>
        </p:txBody>
      </p:sp>
      <p:sp>
        <p:nvSpPr>
          <p:cNvPr id="46" name="Text 44"/>
          <p:cNvSpPr/>
          <p:nvPr/>
        </p:nvSpPr>
        <p:spPr>
          <a:xfrm>
            <a:off x="502920" y="4517136"/>
            <a:ext cx="1828800" cy="182880"/>
          </a:xfrm>
          <a:prstGeom prst="rect">
            <a:avLst/>
          </a:prstGeom>
          <a:noFill/>
          <a:ln/>
        </p:spPr>
        <p:txBody>
          <a:bodyPr wrap="square" lIns="0" tIns="0" rIns="0" bIns="0" rtlCol="0" anchor="ctr"/>
          <a:lstStyle/>
          <a:p>
            <a:pPr marL="0" indent="0">
              <a:buNone/>
            </a:pPr>
            <a:r>
              <a:rPr lang="en-US" sz="800" dirty="0">
                <a:solidFill>
                  <a:srgbClr val="94A3B8"/>
                </a:solidFill>
                <a:latin typeface="Calibri" pitchFamily="34" charset="0"/>
                <a:ea typeface="Calibri" pitchFamily="34" charset="-122"/>
                <a:cs typeface="Calibri" pitchFamily="34" charset="-120"/>
              </a:rPr>
              <a:t>Total Images</a:t>
            </a:r>
            <a:endParaRPr lang="en-US" sz="800" dirty="0"/>
          </a:p>
        </p:txBody>
      </p:sp>
      <p:sp>
        <p:nvSpPr>
          <p:cNvPr id="47" name="Text 45"/>
          <p:cNvSpPr/>
          <p:nvPr/>
        </p:nvSpPr>
        <p:spPr>
          <a:xfrm>
            <a:off x="2697480" y="4315968"/>
            <a:ext cx="1828800" cy="201168"/>
          </a:xfrm>
          <a:prstGeom prst="rect">
            <a:avLst/>
          </a:prstGeom>
          <a:noFill/>
          <a:ln/>
        </p:spPr>
        <p:txBody>
          <a:bodyPr wrap="square" lIns="0" tIns="0" rIns="0" bIns="0" rtlCol="0" anchor="ctr"/>
          <a:lstStyle/>
          <a:p>
            <a:pPr marL="0" indent="0">
              <a:buNone/>
            </a:pPr>
            <a:r>
              <a:rPr lang="en-US" sz="1300" b="1" dirty="0">
                <a:solidFill>
                  <a:srgbClr val="14B8A6"/>
                </a:solidFill>
                <a:latin typeface="Georgia" pitchFamily="34" charset="0"/>
                <a:ea typeface="Georgia" pitchFamily="34" charset="-122"/>
                <a:cs typeface="Georgia" pitchFamily="34" charset="-120"/>
              </a:rPr>
              <a:t>9</a:t>
            </a:r>
            <a:endParaRPr lang="en-US" sz="1300" dirty="0"/>
          </a:p>
        </p:txBody>
      </p:sp>
      <p:sp>
        <p:nvSpPr>
          <p:cNvPr id="48" name="Text 46"/>
          <p:cNvSpPr/>
          <p:nvPr/>
        </p:nvSpPr>
        <p:spPr>
          <a:xfrm>
            <a:off x="2697480" y="4517136"/>
            <a:ext cx="1828800" cy="182880"/>
          </a:xfrm>
          <a:prstGeom prst="rect">
            <a:avLst/>
          </a:prstGeom>
          <a:noFill/>
          <a:ln/>
        </p:spPr>
        <p:txBody>
          <a:bodyPr wrap="square" lIns="0" tIns="0" rIns="0" bIns="0" rtlCol="0" anchor="ctr"/>
          <a:lstStyle/>
          <a:p>
            <a:pPr marL="0" indent="0">
              <a:buNone/>
            </a:pPr>
            <a:r>
              <a:rPr lang="en-US" sz="800" dirty="0">
                <a:solidFill>
                  <a:srgbClr val="94A3B8"/>
                </a:solidFill>
                <a:latin typeface="Calibri" pitchFamily="34" charset="0"/>
                <a:ea typeface="Calibri" pitchFamily="34" charset="-122"/>
                <a:cs typeface="Calibri" pitchFamily="34" charset="-120"/>
              </a:rPr>
              <a:t>Vehicle Classes</a:t>
            </a:r>
            <a:endParaRPr lang="en-US" sz="800" dirty="0"/>
          </a:p>
        </p:txBody>
      </p:sp>
      <p:sp>
        <p:nvSpPr>
          <p:cNvPr id="49" name="Text 47"/>
          <p:cNvSpPr/>
          <p:nvPr/>
        </p:nvSpPr>
        <p:spPr>
          <a:xfrm>
            <a:off x="4892040" y="4315968"/>
            <a:ext cx="1828800" cy="201168"/>
          </a:xfrm>
          <a:prstGeom prst="rect">
            <a:avLst/>
          </a:prstGeom>
          <a:noFill/>
          <a:ln/>
        </p:spPr>
        <p:txBody>
          <a:bodyPr wrap="square" lIns="0" tIns="0" rIns="0" bIns="0" rtlCol="0" anchor="ctr"/>
          <a:lstStyle/>
          <a:p>
            <a:pPr marL="0" indent="0">
              <a:buNone/>
            </a:pPr>
            <a:r>
              <a:rPr lang="en-US" sz="1300" b="1" dirty="0">
                <a:solidFill>
                  <a:srgbClr val="14B8A6"/>
                </a:solidFill>
                <a:latin typeface="Georgia" pitchFamily="34" charset="0"/>
                <a:ea typeface="Georgia" pitchFamily="34" charset="-122"/>
                <a:cs typeface="Georgia" pitchFamily="34" charset="-120"/>
              </a:rPr>
              <a:t>Polygon</a:t>
            </a:r>
            <a:endParaRPr lang="en-US" sz="1300" dirty="0"/>
          </a:p>
        </p:txBody>
      </p:sp>
      <p:sp>
        <p:nvSpPr>
          <p:cNvPr id="50" name="Text 48"/>
          <p:cNvSpPr/>
          <p:nvPr/>
        </p:nvSpPr>
        <p:spPr>
          <a:xfrm>
            <a:off x="4892040" y="4517136"/>
            <a:ext cx="1828800" cy="182880"/>
          </a:xfrm>
          <a:prstGeom prst="rect">
            <a:avLst/>
          </a:prstGeom>
          <a:noFill/>
          <a:ln/>
        </p:spPr>
        <p:txBody>
          <a:bodyPr wrap="square" lIns="0" tIns="0" rIns="0" bIns="0" rtlCol="0" anchor="ctr"/>
          <a:lstStyle/>
          <a:p>
            <a:pPr marL="0" indent="0">
              <a:buNone/>
            </a:pPr>
            <a:r>
              <a:rPr lang="en-US" sz="800" dirty="0">
                <a:solidFill>
                  <a:srgbClr val="94A3B8"/>
                </a:solidFill>
                <a:latin typeface="Calibri" pitchFamily="34" charset="0"/>
                <a:ea typeface="Calibri" pitchFamily="34" charset="-122"/>
                <a:cs typeface="Calibri" pitchFamily="34" charset="-120"/>
              </a:rPr>
              <a:t>Annotation Type</a:t>
            </a:r>
            <a:endParaRPr lang="en-US" sz="800" dirty="0"/>
          </a:p>
        </p:txBody>
      </p:sp>
      <p:sp>
        <p:nvSpPr>
          <p:cNvPr id="51" name="Text 49"/>
          <p:cNvSpPr/>
          <p:nvPr/>
        </p:nvSpPr>
        <p:spPr>
          <a:xfrm>
            <a:off x="7086600" y="4315968"/>
            <a:ext cx="1828800" cy="201168"/>
          </a:xfrm>
          <a:prstGeom prst="rect">
            <a:avLst/>
          </a:prstGeom>
          <a:noFill/>
          <a:ln/>
        </p:spPr>
        <p:txBody>
          <a:bodyPr wrap="square" lIns="0" tIns="0" rIns="0" bIns="0" rtlCol="0" anchor="ctr"/>
          <a:lstStyle/>
          <a:p>
            <a:pPr marL="0" indent="0">
              <a:buNone/>
            </a:pPr>
            <a:r>
              <a:rPr lang="en-US" sz="1300" b="1" dirty="0">
                <a:solidFill>
                  <a:srgbClr val="14B8A6"/>
                </a:solidFill>
                <a:latin typeface="Georgia" pitchFamily="34" charset="0"/>
                <a:ea typeface="Georgia" pitchFamily="34" charset="-122"/>
                <a:cs typeface="Georgia" pitchFamily="34" charset="-120"/>
              </a:rPr>
              <a:t>YOLOv5</a:t>
            </a:r>
            <a:endParaRPr lang="en-US" sz="1300" dirty="0"/>
          </a:p>
        </p:txBody>
      </p:sp>
      <p:sp>
        <p:nvSpPr>
          <p:cNvPr id="52" name="Text 50"/>
          <p:cNvSpPr/>
          <p:nvPr/>
        </p:nvSpPr>
        <p:spPr>
          <a:xfrm>
            <a:off x="7086600" y="4517136"/>
            <a:ext cx="1828800" cy="182880"/>
          </a:xfrm>
          <a:prstGeom prst="rect">
            <a:avLst/>
          </a:prstGeom>
          <a:noFill/>
          <a:ln/>
        </p:spPr>
        <p:txBody>
          <a:bodyPr wrap="square" lIns="0" tIns="0" rIns="0" bIns="0" rtlCol="0" anchor="ctr"/>
          <a:lstStyle/>
          <a:p>
            <a:pPr marL="0" indent="0">
              <a:buNone/>
            </a:pPr>
            <a:r>
              <a:rPr lang="en-US" sz="800" dirty="0">
                <a:solidFill>
                  <a:srgbClr val="94A3B8"/>
                </a:solidFill>
                <a:latin typeface="Calibri" pitchFamily="34" charset="0"/>
                <a:ea typeface="Calibri" pitchFamily="34" charset="-122"/>
                <a:cs typeface="Calibri" pitchFamily="34" charset="-120"/>
              </a:rPr>
              <a:t>Export Format</a:t>
            </a:r>
            <a:endParaRPr lang="en-US" sz="800" dirty="0"/>
          </a:p>
        </p:txBody>
      </p:sp>
      <p:sp>
        <p:nvSpPr>
          <p:cNvPr id="53" name="Shape 51"/>
          <p:cNvSpPr/>
          <p:nvPr/>
        </p:nvSpPr>
        <p:spPr>
          <a:xfrm>
            <a:off x="0" y="4873752"/>
            <a:ext cx="9144000" cy="274320"/>
          </a:xfrm>
          <a:prstGeom prst="rect">
            <a:avLst/>
          </a:prstGeom>
          <a:solidFill>
            <a:srgbClr val="1C2951"/>
          </a:solidFill>
          <a:ln w="12700">
            <a:solidFill>
              <a:srgbClr val="1C2951"/>
            </a:solidFill>
            <a:prstDash val="solid"/>
          </a:ln>
        </p:spPr>
        <p:txBody>
          <a:bodyPr/>
          <a:lstStyle/>
          <a:p>
            <a:endParaRPr lang="en-US"/>
          </a:p>
        </p:txBody>
      </p:sp>
      <p:sp>
        <p:nvSpPr>
          <p:cNvPr id="54" name="Text 52"/>
          <p:cNvSpPr/>
          <p:nvPr/>
        </p:nvSpPr>
        <p:spPr>
          <a:xfrm>
            <a:off x="274320" y="4873752"/>
            <a:ext cx="8595360" cy="274320"/>
          </a:xfrm>
          <a:prstGeom prst="rect">
            <a:avLst/>
          </a:prstGeom>
          <a:noFill/>
          <a:ln/>
        </p:spPr>
        <p:txBody>
          <a:bodyPr wrap="square" lIns="0" tIns="0" rIns="0" bIns="0" rtlCol="0" anchor="ctr"/>
          <a:lstStyle/>
          <a:p>
            <a:pPr marL="0" indent="0">
              <a:buNone/>
            </a:pPr>
            <a:r>
              <a:rPr lang="en-US" sz="800" dirty="0">
                <a:solidFill>
                  <a:srgbClr val="A0AEC0"/>
                </a:solidFill>
                <a:latin typeface="Calibri" pitchFamily="34" charset="0"/>
                <a:ea typeface="Calibri" pitchFamily="34" charset="-122"/>
                <a:cs typeface="Calibri" pitchFamily="34" charset="-120"/>
              </a:rPr>
              <a:t>Data Science Internship  |  CUMTA  |  Manoj Kumar D</a:t>
            </a:r>
            <a:endParaRPr lang="en-US" sz="800" dirty="0"/>
          </a:p>
        </p:txBody>
      </p:sp>
      <p:sp>
        <p:nvSpPr>
          <p:cNvPr id="33" name="Shape 31"/>
          <p:cNvSpPr/>
          <p:nvPr/>
        </p:nvSpPr>
        <p:spPr>
          <a:xfrm>
            <a:off x="8892572" y="3654033"/>
            <a:ext cx="64008" cy="502920"/>
          </a:xfrm>
          <a:prstGeom prst="rect">
            <a:avLst/>
          </a:prstGeom>
          <a:solidFill>
            <a:srgbClr val="0D9488"/>
          </a:solidFill>
          <a:ln w="12700">
            <a:solidFill>
              <a:srgbClr val="0D9488"/>
            </a:solidFill>
            <a:prstDash val="solid"/>
          </a:ln>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9F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C2951"/>
          </a:solidFill>
          <a:ln w="12700">
            <a:solidFill>
              <a:srgbClr val="1C2951"/>
            </a:solidFill>
            <a:prstDash val="solid"/>
          </a:ln>
        </p:spPr>
        <p:txBody>
          <a:bodyPr/>
          <a:lstStyle/>
          <a:p>
            <a:endParaRPr lang="en-US"/>
          </a:p>
        </p:txBody>
      </p:sp>
      <p:sp>
        <p:nvSpPr>
          <p:cNvPr id="3" name="Shape 1"/>
          <p:cNvSpPr/>
          <p:nvPr/>
        </p:nvSpPr>
        <p:spPr>
          <a:xfrm>
            <a:off x="0" y="1005840"/>
            <a:ext cx="9144000" cy="54864"/>
          </a:xfrm>
          <a:prstGeom prst="rect">
            <a:avLst/>
          </a:prstGeom>
          <a:solidFill>
            <a:srgbClr val="0D9488"/>
          </a:solidFill>
          <a:ln w="12700">
            <a:solidFill>
              <a:srgbClr val="0D9488"/>
            </a:solidFill>
            <a:prstDash val="solid"/>
          </a:ln>
        </p:spPr>
        <p:txBody>
          <a:bodyPr/>
          <a:lstStyle/>
          <a:p>
            <a:endParaRPr lang="en-US"/>
          </a:p>
        </p:txBody>
      </p:sp>
      <p:sp>
        <p:nvSpPr>
          <p:cNvPr id="4" name="Text 2"/>
          <p:cNvSpPr/>
          <p:nvPr/>
        </p:nvSpPr>
        <p:spPr>
          <a:xfrm>
            <a:off x="457200" y="0"/>
            <a:ext cx="8229600" cy="10058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Chapter 4, Section IV  |  Data Manipulation — Thiruvannamalai Bus Depot</a:t>
            </a:r>
            <a:endParaRPr lang="en-US" sz="2600" dirty="0"/>
          </a:p>
        </p:txBody>
      </p:sp>
      <p:sp>
        <p:nvSpPr>
          <p:cNvPr id="5" name="Shape 3"/>
          <p:cNvSpPr/>
          <p:nvPr/>
        </p:nvSpPr>
        <p:spPr>
          <a:xfrm>
            <a:off x="320040" y="1170432"/>
            <a:ext cx="8503920" cy="749808"/>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320040" y="1170432"/>
            <a:ext cx="64008" cy="749808"/>
          </a:xfrm>
          <a:prstGeom prst="rect">
            <a:avLst/>
          </a:prstGeom>
          <a:solidFill>
            <a:srgbClr val="0D9488"/>
          </a:solidFill>
          <a:ln w="12700">
            <a:solidFill>
              <a:srgbClr val="0D9488"/>
            </a:solidFill>
            <a:prstDash val="solid"/>
          </a:ln>
        </p:spPr>
        <p:txBody>
          <a:bodyPr/>
          <a:lstStyle/>
          <a:p>
            <a:endParaRPr lang="en-US"/>
          </a:p>
        </p:txBody>
      </p:sp>
      <p:sp>
        <p:nvSpPr>
          <p:cNvPr id="7" name="Text 5"/>
          <p:cNvSpPr/>
          <p:nvPr/>
        </p:nvSpPr>
        <p:spPr>
          <a:xfrm>
            <a:off x="530352" y="1225296"/>
            <a:ext cx="8046720" cy="256032"/>
          </a:xfrm>
          <a:prstGeom prst="rect">
            <a:avLst/>
          </a:prstGeom>
          <a:noFill/>
          <a:ln/>
        </p:spPr>
        <p:txBody>
          <a:bodyPr wrap="square" lIns="0" tIns="0" rIns="0" bIns="0" rtlCol="0" anchor="ctr"/>
          <a:lstStyle/>
          <a:p>
            <a:pPr marL="0" indent="0">
              <a:buNone/>
            </a:pPr>
            <a:r>
              <a:rPr lang="en-US" sz="1200" b="1" dirty="0">
                <a:solidFill>
                  <a:srgbClr val="1C2951"/>
                </a:solidFill>
                <a:latin typeface="Calibri" pitchFamily="34" charset="0"/>
                <a:ea typeface="Calibri" pitchFamily="34" charset="-122"/>
                <a:cs typeface="Calibri" pitchFamily="34" charset="-120"/>
              </a:rPr>
              <a:t>Proposed Solution</a:t>
            </a:r>
            <a:endParaRPr lang="en-US" sz="1200" dirty="0"/>
          </a:p>
        </p:txBody>
      </p:sp>
      <p:sp>
        <p:nvSpPr>
          <p:cNvPr id="8" name="Text 6"/>
          <p:cNvSpPr/>
          <p:nvPr/>
        </p:nvSpPr>
        <p:spPr>
          <a:xfrm>
            <a:off x="530352" y="1490472"/>
            <a:ext cx="8046720" cy="38404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A structured data-processing pipeline to clean and analyze the Thiruvannamalai Bus Depot dataset. Using Jupyter Notebook and Python (Pandas, NumPy), the dataset was standardized, null values handled, and operational summaries generated.</a:t>
            </a:r>
            <a:endParaRPr lang="en-US" sz="1000" dirty="0"/>
          </a:p>
        </p:txBody>
      </p:sp>
      <p:sp>
        <p:nvSpPr>
          <p:cNvPr id="9" name="Shape 7"/>
          <p:cNvSpPr/>
          <p:nvPr/>
        </p:nvSpPr>
        <p:spPr>
          <a:xfrm>
            <a:off x="320040" y="2057400"/>
            <a:ext cx="4160520" cy="114300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0" name="Shape 8"/>
          <p:cNvSpPr/>
          <p:nvPr/>
        </p:nvSpPr>
        <p:spPr>
          <a:xfrm>
            <a:off x="320040" y="2057400"/>
            <a:ext cx="64008" cy="1143000"/>
          </a:xfrm>
          <a:prstGeom prst="rect">
            <a:avLst/>
          </a:prstGeom>
          <a:solidFill>
            <a:srgbClr val="0D9488"/>
          </a:solidFill>
          <a:ln w="12700">
            <a:solidFill>
              <a:srgbClr val="0D9488"/>
            </a:solidFill>
            <a:prstDash val="solid"/>
          </a:ln>
        </p:spPr>
        <p:txBody>
          <a:bodyPr/>
          <a:lstStyle/>
          <a:p>
            <a:endParaRPr lang="en-US"/>
          </a:p>
        </p:txBody>
      </p:sp>
      <p:sp>
        <p:nvSpPr>
          <p:cNvPr id="11" name="Shape 9"/>
          <p:cNvSpPr/>
          <p:nvPr/>
        </p:nvSpPr>
        <p:spPr>
          <a:xfrm>
            <a:off x="484632" y="2240280"/>
            <a:ext cx="384048" cy="384048"/>
          </a:xfrm>
          <a:prstGeom prst="ellipse">
            <a:avLst/>
          </a:prstGeom>
          <a:solidFill>
            <a:srgbClr val="0D9488"/>
          </a:solidFill>
          <a:ln w="12700">
            <a:solidFill>
              <a:srgbClr val="0D9488"/>
            </a:solidFill>
            <a:prstDash val="solid"/>
          </a:ln>
        </p:spPr>
        <p:txBody>
          <a:bodyPr/>
          <a:lstStyle/>
          <a:p>
            <a:endParaRPr lang="en-US"/>
          </a:p>
        </p:txBody>
      </p:sp>
      <p:sp>
        <p:nvSpPr>
          <p:cNvPr id="12" name="Text 10"/>
          <p:cNvSpPr/>
          <p:nvPr/>
        </p:nvSpPr>
        <p:spPr>
          <a:xfrm>
            <a:off x="484632" y="2240280"/>
            <a:ext cx="384048" cy="38404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01</a:t>
            </a:r>
            <a:endParaRPr lang="en-US" sz="900" dirty="0"/>
          </a:p>
        </p:txBody>
      </p:sp>
      <p:sp>
        <p:nvSpPr>
          <p:cNvPr id="13" name="Text 11"/>
          <p:cNvSpPr/>
          <p:nvPr/>
        </p:nvSpPr>
        <p:spPr>
          <a:xfrm>
            <a:off x="987552" y="2221992"/>
            <a:ext cx="3291840" cy="256032"/>
          </a:xfrm>
          <a:prstGeom prst="rect">
            <a:avLst/>
          </a:prstGeom>
          <a:noFill/>
          <a:ln/>
        </p:spPr>
        <p:txBody>
          <a:bodyPr wrap="square" lIns="0" tIns="0" rIns="0" bIns="0" rtlCol="0" anchor="ctr"/>
          <a:lstStyle/>
          <a:p>
            <a:pPr marL="0" indent="0">
              <a:buNone/>
            </a:pPr>
            <a:r>
              <a:rPr lang="en-US" sz="1100" b="1" dirty="0">
                <a:solidFill>
                  <a:srgbClr val="1C2951"/>
                </a:solidFill>
                <a:latin typeface="Calibri" pitchFamily="34" charset="0"/>
                <a:ea typeface="Calibri" pitchFamily="34" charset="-122"/>
                <a:cs typeface="Calibri" pitchFamily="34" charset="-120"/>
              </a:rPr>
              <a:t>Dataset Preparation</a:t>
            </a:r>
            <a:endParaRPr lang="en-US" sz="1100" dirty="0"/>
          </a:p>
        </p:txBody>
      </p:sp>
      <p:sp>
        <p:nvSpPr>
          <p:cNvPr id="14" name="Text 12"/>
          <p:cNvSpPr/>
          <p:nvPr/>
        </p:nvSpPr>
        <p:spPr>
          <a:xfrm>
            <a:off x="521208" y="2514600"/>
            <a:ext cx="3794760" cy="621792"/>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Loaded &amp; inspected the bus depot dataset using Jupyter Notebook and Pandas. Explored structure, data types, and sample rows.</a:t>
            </a:r>
            <a:endParaRPr lang="en-US" sz="950" dirty="0"/>
          </a:p>
        </p:txBody>
      </p:sp>
      <p:sp>
        <p:nvSpPr>
          <p:cNvPr id="15" name="Shape 13"/>
          <p:cNvSpPr/>
          <p:nvPr/>
        </p:nvSpPr>
        <p:spPr>
          <a:xfrm>
            <a:off x="4754880" y="2057400"/>
            <a:ext cx="4160520" cy="114300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6" name="Shape 14"/>
          <p:cNvSpPr/>
          <p:nvPr/>
        </p:nvSpPr>
        <p:spPr>
          <a:xfrm>
            <a:off x="4754880" y="2057400"/>
            <a:ext cx="64008" cy="1143000"/>
          </a:xfrm>
          <a:prstGeom prst="rect">
            <a:avLst/>
          </a:prstGeom>
          <a:solidFill>
            <a:srgbClr val="0D9488"/>
          </a:solidFill>
          <a:ln w="12700">
            <a:solidFill>
              <a:srgbClr val="0D9488"/>
            </a:solidFill>
            <a:prstDash val="solid"/>
          </a:ln>
        </p:spPr>
        <p:txBody>
          <a:bodyPr/>
          <a:lstStyle/>
          <a:p>
            <a:endParaRPr lang="en-US"/>
          </a:p>
        </p:txBody>
      </p:sp>
      <p:sp>
        <p:nvSpPr>
          <p:cNvPr id="17" name="Shape 15"/>
          <p:cNvSpPr/>
          <p:nvPr/>
        </p:nvSpPr>
        <p:spPr>
          <a:xfrm>
            <a:off x="4919472" y="2240280"/>
            <a:ext cx="384048" cy="384048"/>
          </a:xfrm>
          <a:prstGeom prst="ellipse">
            <a:avLst/>
          </a:prstGeom>
          <a:solidFill>
            <a:srgbClr val="0D9488"/>
          </a:solidFill>
          <a:ln w="12700">
            <a:solidFill>
              <a:srgbClr val="0D9488"/>
            </a:solidFill>
            <a:prstDash val="solid"/>
          </a:ln>
        </p:spPr>
        <p:txBody>
          <a:bodyPr/>
          <a:lstStyle/>
          <a:p>
            <a:endParaRPr lang="en-US"/>
          </a:p>
        </p:txBody>
      </p:sp>
      <p:sp>
        <p:nvSpPr>
          <p:cNvPr id="18" name="Text 16"/>
          <p:cNvSpPr/>
          <p:nvPr/>
        </p:nvSpPr>
        <p:spPr>
          <a:xfrm>
            <a:off x="4919472" y="2240280"/>
            <a:ext cx="384048" cy="38404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02</a:t>
            </a:r>
            <a:endParaRPr lang="en-US" sz="900" dirty="0"/>
          </a:p>
        </p:txBody>
      </p:sp>
      <p:sp>
        <p:nvSpPr>
          <p:cNvPr id="19" name="Text 17"/>
          <p:cNvSpPr/>
          <p:nvPr/>
        </p:nvSpPr>
        <p:spPr>
          <a:xfrm>
            <a:off x="5422392" y="2221992"/>
            <a:ext cx="3291840" cy="256032"/>
          </a:xfrm>
          <a:prstGeom prst="rect">
            <a:avLst/>
          </a:prstGeom>
          <a:noFill/>
          <a:ln/>
        </p:spPr>
        <p:txBody>
          <a:bodyPr wrap="square" lIns="0" tIns="0" rIns="0" bIns="0" rtlCol="0" anchor="ctr"/>
          <a:lstStyle/>
          <a:p>
            <a:pPr marL="0" indent="0">
              <a:buNone/>
            </a:pPr>
            <a:r>
              <a:rPr lang="en-US" sz="1100" b="1" dirty="0">
                <a:solidFill>
                  <a:srgbClr val="1C2951"/>
                </a:solidFill>
                <a:latin typeface="Calibri" pitchFamily="34" charset="0"/>
                <a:ea typeface="Calibri" pitchFamily="34" charset="-122"/>
                <a:cs typeface="Calibri" pitchFamily="34" charset="-120"/>
              </a:rPr>
              <a:t>Null Value Handling</a:t>
            </a:r>
            <a:endParaRPr lang="en-US" sz="1100" dirty="0"/>
          </a:p>
        </p:txBody>
      </p:sp>
      <p:sp>
        <p:nvSpPr>
          <p:cNvPr id="20" name="Text 18"/>
          <p:cNvSpPr/>
          <p:nvPr/>
        </p:nvSpPr>
        <p:spPr>
          <a:xfrm>
            <a:off x="4956048" y="2514600"/>
            <a:ext cx="3794760" cy="621792"/>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Removed or imputed missing values in critical columns like arrival and departure times to ensure data completeness.</a:t>
            </a:r>
            <a:endParaRPr lang="en-US" sz="950" dirty="0"/>
          </a:p>
        </p:txBody>
      </p:sp>
      <p:sp>
        <p:nvSpPr>
          <p:cNvPr id="21" name="Shape 19"/>
          <p:cNvSpPr/>
          <p:nvPr/>
        </p:nvSpPr>
        <p:spPr>
          <a:xfrm>
            <a:off x="320040" y="3355848"/>
            <a:ext cx="4160520" cy="114300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2" name="Shape 20"/>
          <p:cNvSpPr/>
          <p:nvPr/>
        </p:nvSpPr>
        <p:spPr>
          <a:xfrm>
            <a:off x="320040" y="3355848"/>
            <a:ext cx="64008" cy="1143000"/>
          </a:xfrm>
          <a:prstGeom prst="rect">
            <a:avLst/>
          </a:prstGeom>
          <a:solidFill>
            <a:srgbClr val="0D9488"/>
          </a:solidFill>
          <a:ln w="12700">
            <a:solidFill>
              <a:srgbClr val="0D9488"/>
            </a:solidFill>
            <a:prstDash val="solid"/>
          </a:ln>
        </p:spPr>
        <p:txBody>
          <a:bodyPr/>
          <a:lstStyle/>
          <a:p>
            <a:endParaRPr lang="en-US"/>
          </a:p>
        </p:txBody>
      </p:sp>
      <p:sp>
        <p:nvSpPr>
          <p:cNvPr id="23" name="Shape 21"/>
          <p:cNvSpPr/>
          <p:nvPr/>
        </p:nvSpPr>
        <p:spPr>
          <a:xfrm>
            <a:off x="484632" y="3538728"/>
            <a:ext cx="384048" cy="384048"/>
          </a:xfrm>
          <a:prstGeom prst="ellipse">
            <a:avLst/>
          </a:prstGeom>
          <a:solidFill>
            <a:srgbClr val="0D9488"/>
          </a:solidFill>
          <a:ln w="12700">
            <a:solidFill>
              <a:srgbClr val="0D9488"/>
            </a:solidFill>
            <a:prstDash val="solid"/>
          </a:ln>
        </p:spPr>
        <p:txBody>
          <a:bodyPr/>
          <a:lstStyle/>
          <a:p>
            <a:endParaRPr lang="en-US"/>
          </a:p>
        </p:txBody>
      </p:sp>
      <p:sp>
        <p:nvSpPr>
          <p:cNvPr id="24" name="Text 22"/>
          <p:cNvSpPr/>
          <p:nvPr/>
        </p:nvSpPr>
        <p:spPr>
          <a:xfrm>
            <a:off x="484632" y="3538728"/>
            <a:ext cx="384048" cy="38404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03</a:t>
            </a:r>
            <a:endParaRPr lang="en-US" sz="900" dirty="0"/>
          </a:p>
        </p:txBody>
      </p:sp>
      <p:sp>
        <p:nvSpPr>
          <p:cNvPr id="25" name="Text 23"/>
          <p:cNvSpPr/>
          <p:nvPr/>
        </p:nvSpPr>
        <p:spPr>
          <a:xfrm>
            <a:off x="987552" y="3520440"/>
            <a:ext cx="3291840" cy="256032"/>
          </a:xfrm>
          <a:prstGeom prst="rect">
            <a:avLst/>
          </a:prstGeom>
          <a:noFill/>
          <a:ln/>
        </p:spPr>
        <p:txBody>
          <a:bodyPr wrap="square" lIns="0" tIns="0" rIns="0" bIns="0" rtlCol="0" anchor="ctr"/>
          <a:lstStyle/>
          <a:p>
            <a:pPr marL="0" indent="0">
              <a:buNone/>
            </a:pPr>
            <a:r>
              <a:rPr lang="en-US" sz="1100" b="1" dirty="0">
                <a:solidFill>
                  <a:srgbClr val="1C2951"/>
                </a:solidFill>
                <a:latin typeface="Calibri" pitchFamily="34" charset="0"/>
                <a:ea typeface="Calibri" pitchFamily="34" charset="-122"/>
                <a:cs typeface="Calibri" pitchFamily="34" charset="-120"/>
              </a:rPr>
              <a:t>Bus Code Standardization</a:t>
            </a:r>
            <a:endParaRPr lang="en-US" sz="1100" dirty="0"/>
          </a:p>
        </p:txBody>
      </p:sp>
      <p:sp>
        <p:nvSpPr>
          <p:cNvPr id="26" name="Text 24"/>
          <p:cNvSpPr/>
          <p:nvPr/>
        </p:nvSpPr>
        <p:spPr>
          <a:xfrm>
            <a:off x="521208" y="3813048"/>
            <a:ext cx="3794760" cy="621792"/>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Applied corrections to bus codes for consistency across all entries, removing duplicates and formatting errors.</a:t>
            </a:r>
            <a:endParaRPr lang="en-US" sz="950" dirty="0"/>
          </a:p>
        </p:txBody>
      </p:sp>
      <p:sp>
        <p:nvSpPr>
          <p:cNvPr id="27" name="Shape 25"/>
          <p:cNvSpPr/>
          <p:nvPr/>
        </p:nvSpPr>
        <p:spPr>
          <a:xfrm>
            <a:off x="4754880" y="3355848"/>
            <a:ext cx="4160520" cy="114300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8" name="Shape 26"/>
          <p:cNvSpPr/>
          <p:nvPr/>
        </p:nvSpPr>
        <p:spPr>
          <a:xfrm>
            <a:off x="4754880" y="3355848"/>
            <a:ext cx="64008" cy="1143000"/>
          </a:xfrm>
          <a:prstGeom prst="rect">
            <a:avLst/>
          </a:prstGeom>
          <a:solidFill>
            <a:srgbClr val="0D9488"/>
          </a:solidFill>
          <a:ln w="12700">
            <a:solidFill>
              <a:srgbClr val="0D9488"/>
            </a:solidFill>
            <a:prstDash val="solid"/>
          </a:ln>
        </p:spPr>
        <p:txBody>
          <a:bodyPr/>
          <a:lstStyle/>
          <a:p>
            <a:endParaRPr lang="en-US"/>
          </a:p>
        </p:txBody>
      </p:sp>
      <p:sp>
        <p:nvSpPr>
          <p:cNvPr id="29" name="Shape 27"/>
          <p:cNvSpPr/>
          <p:nvPr/>
        </p:nvSpPr>
        <p:spPr>
          <a:xfrm>
            <a:off x="4919472" y="3538728"/>
            <a:ext cx="384048" cy="384048"/>
          </a:xfrm>
          <a:prstGeom prst="ellipse">
            <a:avLst/>
          </a:prstGeom>
          <a:solidFill>
            <a:srgbClr val="0D9488"/>
          </a:solidFill>
          <a:ln w="12700">
            <a:solidFill>
              <a:srgbClr val="0D9488"/>
            </a:solidFill>
            <a:prstDash val="solid"/>
          </a:ln>
        </p:spPr>
        <p:txBody>
          <a:bodyPr/>
          <a:lstStyle/>
          <a:p>
            <a:endParaRPr lang="en-US"/>
          </a:p>
        </p:txBody>
      </p:sp>
      <p:sp>
        <p:nvSpPr>
          <p:cNvPr id="30" name="Text 28"/>
          <p:cNvSpPr/>
          <p:nvPr/>
        </p:nvSpPr>
        <p:spPr>
          <a:xfrm>
            <a:off x="4919472" y="3538728"/>
            <a:ext cx="384048" cy="38404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04</a:t>
            </a:r>
            <a:endParaRPr lang="en-US" sz="900" dirty="0"/>
          </a:p>
        </p:txBody>
      </p:sp>
      <p:sp>
        <p:nvSpPr>
          <p:cNvPr id="31" name="Text 29"/>
          <p:cNvSpPr/>
          <p:nvPr/>
        </p:nvSpPr>
        <p:spPr>
          <a:xfrm>
            <a:off x="5422392" y="3520440"/>
            <a:ext cx="3291840" cy="256032"/>
          </a:xfrm>
          <a:prstGeom prst="rect">
            <a:avLst/>
          </a:prstGeom>
          <a:noFill/>
          <a:ln/>
        </p:spPr>
        <p:txBody>
          <a:bodyPr wrap="square" lIns="0" tIns="0" rIns="0" bIns="0" rtlCol="0" anchor="ctr"/>
          <a:lstStyle/>
          <a:p>
            <a:pPr marL="0" indent="0">
              <a:buNone/>
            </a:pPr>
            <a:r>
              <a:rPr lang="en-US" sz="1100" b="1" dirty="0">
                <a:solidFill>
                  <a:srgbClr val="1C2951"/>
                </a:solidFill>
                <a:latin typeface="Calibri" pitchFamily="34" charset="0"/>
                <a:ea typeface="Calibri" pitchFamily="34" charset="-122"/>
                <a:cs typeface="Calibri" pitchFamily="34" charset="-120"/>
              </a:rPr>
              <a:t>Summarization &amp; Aggregation</a:t>
            </a:r>
            <a:endParaRPr lang="en-US" sz="1100" dirty="0"/>
          </a:p>
        </p:txBody>
      </p:sp>
      <p:sp>
        <p:nvSpPr>
          <p:cNvPr id="32" name="Text 30"/>
          <p:cNvSpPr/>
          <p:nvPr/>
        </p:nvSpPr>
        <p:spPr>
          <a:xfrm>
            <a:off x="4956048" y="3813048"/>
            <a:ext cx="3794760" cy="621792"/>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Used sum() and count() functions to calculate total bus arrivals and departures. Generated summary statistics.</a:t>
            </a:r>
            <a:endParaRPr lang="en-US" sz="950" dirty="0"/>
          </a:p>
        </p:txBody>
      </p:sp>
      <p:sp>
        <p:nvSpPr>
          <p:cNvPr id="33" name="Shape 31"/>
          <p:cNvSpPr/>
          <p:nvPr/>
        </p:nvSpPr>
        <p:spPr>
          <a:xfrm>
            <a:off x="0" y="4873752"/>
            <a:ext cx="9144000" cy="274320"/>
          </a:xfrm>
          <a:prstGeom prst="rect">
            <a:avLst/>
          </a:prstGeom>
          <a:solidFill>
            <a:srgbClr val="1C2951"/>
          </a:solidFill>
          <a:ln w="12700">
            <a:solidFill>
              <a:srgbClr val="1C2951"/>
            </a:solidFill>
            <a:prstDash val="solid"/>
          </a:ln>
        </p:spPr>
        <p:txBody>
          <a:bodyPr/>
          <a:lstStyle/>
          <a:p>
            <a:endParaRPr lang="en-US"/>
          </a:p>
        </p:txBody>
      </p:sp>
      <p:sp>
        <p:nvSpPr>
          <p:cNvPr id="34" name="Text 32"/>
          <p:cNvSpPr/>
          <p:nvPr/>
        </p:nvSpPr>
        <p:spPr>
          <a:xfrm>
            <a:off x="274320" y="4873752"/>
            <a:ext cx="8595360" cy="274320"/>
          </a:xfrm>
          <a:prstGeom prst="rect">
            <a:avLst/>
          </a:prstGeom>
          <a:noFill/>
          <a:ln/>
        </p:spPr>
        <p:txBody>
          <a:bodyPr wrap="square" lIns="0" tIns="0" rIns="0" bIns="0" rtlCol="0" anchor="ctr"/>
          <a:lstStyle/>
          <a:p>
            <a:pPr marL="0" indent="0">
              <a:buNone/>
            </a:pPr>
            <a:r>
              <a:rPr lang="en-US" sz="800" dirty="0">
                <a:solidFill>
                  <a:srgbClr val="A0AEC0"/>
                </a:solidFill>
                <a:latin typeface="Calibri" pitchFamily="34" charset="0"/>
                <a:ea typeface="Calibri" pitchFamily="34" charset="-122"/>
                <a:cs typeface="Calibri" pitchFamily="34" charset="-120"/>
              </a:rPr>
              <a:t>Data Science Internship  |  CUMTA  |  Manoj Kumar D</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9F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C2951"/>
          </a:solidFill>
          <a:ln w="12700">
            <a:solidFill>
              <a:srgbClr val="1C2951"/>
            </a:solidFill>
            <a:prstDash val="solid"/>
          </a:ln>
        </p:spPr>
        <p:txBody>
          <a:bodyPr/>
          <a:lstStyle/>
          <a:p>
            <a:endParaRPr lang="en-US"/>
          </a:p>
        </p:txBody>
      </p:sp>
      <p:sp>
        <p:nvSpPr>
          <p:cNvPr id="3" name="Shape 1"/>
          <p:cNvSpPr/>
          <p:nvPr/>
        </p:nvSpPr>
        <p:spPr>
          <a:xfrm>
            <a:off x="0" y="1005840"/>
            <a:ext cx="9144000" cy="54864"/>
          </a:xfrm>
          <a:prstGeom prst="rect">
            <a:avLst/>
          </a:prstGeom>
          <a:solidFill>
            <a:srgbClr val="0D9488"/>
          </a:solidFill>
          <a:ln w="12700">
            <a:solidFill>
              <a:srgbClr val="0D9488"/>
            </a:solidFill>
            <a:prstDash val="solid"/>
          </a:ln>
        </p:spPr>
        <p:txBody>
          <a:bodyPr/>
          <a:lstStyle/>
          <a:p>
            <a:endParaRPr lang="en-US"/>
          </a:p>
        </p:txBody>
      </p:sp>
      <p:sp>
        <p:nvSpPr>
          <p:cNvPr id="4" name="Text 2"/>
          <p:cNvSpPr/>
          <p:nvPr/>
        </p:nvSpPr>
        <p:spPr>
          <a:xfrm>
            <a:off x="457200" y="0"/>
            <a:ext cx="8229600" cy="10058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Chapter 6  |  Impact of the Internship</a:t>
            </a:r>
            <a:endParaRPr lang="en-US" sz="2600" dirty="0"/>
          </a:p>
        </p:txBody>
      </p:sp>
      <p:sp>
        <p:nvSpPr>
          <p:cNvPr id="5" name="Shape 3"/>
          <p:cNvSpPr/>
          <p:nvPr/>
        </p:nvSpPr>
        <p:spPr>
          <a:xfrm>
            <a:off x="320040" y="1234440"/>
            <a:ext cx="2743200" cy="1481328"/>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320040" y="1234440"/>
            <a:ext cx="64008" cy="1481328"/>
          </a:xfrm>
          <a:prstGeom prst="rect">
            <a:avLst/>
          </a:prstGeom>
          <a:solidFill>
            <a:srgbClr val="0D9488"/>
          </a:solidFill>
          <a:ln w="12700">
            <a:solidFill>
              <a:srgbClr val="0D9488"/>
            </a:solidFill>
            <a:prstDash val="solid"/>
          </a:ln>
        </p:spPr>
        <p:txBody>
          <a:bodyPr/>
          <a:lstStyle/>
          <a:p>
            <a:endParaRPr lang="en-US"/>
          </a:p>
        </p:txBody>
      </p:sp>
      <p:sp>
        <p:nvSpPr>
          <p:cNvPr id="7" name="Text 5"/>
          <p:cNvSpPr/>
          <p:nvPr/>
        </p:nvSpPr>
        <p:spPr>
          <a:xfrm>
            <a:off x="521208" y="1417320"/>
            <a:ext cx="2468880" cy="320040"/>
          </a:xfrm>
          <a:prstGeom prst="rect">
            <a:avLst/>
          </a:prstGeom>
          <a:noFill/>
          <a:ln/>
        </p:spPr>
        <p:txBody>
          <a:bodyPr wrap="square" lIns="0" tIns="0" rIns="0" bIns="0" rtlCol="0" anchor="ctr"/>
          <a:lstStyle/>
          <a:p>
            <a:pPr marL="0" indent="0">
              <a:buNone/>
            </a:pPr>
            <a:r>
              <a:rPr lang="en-US" sz="1200" b="1" dirty="0">
                <a:solidFill>
                  <a:srgbClr val="1C2951"/>
                </a:solidFill>
                <a:latin typeface="Calibri" pitchFamily="34" charset="0"/>
                <a:ea typeface="Calibri" pitchFamily="34" charset="-122"/>
                <a:cs typeface="Calibri" pitchFamily="34" charset="-120"/>
              </a:rPr>
              <a:t>Data Accuracy</a:t>
            </a:r>
            <a:endParaRPr lang="en-US" sz="1200" dirty="0"/>
          </a:p>
        </p:txBody>
      </p:sp>
      <p:sp>
        <p:nvSpPr>
          <p:cNvPr id="8" name="Text 6"/>
          <p:cNvSpPr/>
          <p:nvPr/>
        </p:nvSpPr>
        <p:spPr>
          <a:xfrm>
            <a:off x="521208" y="1764792"/>
            <a:ext cx="2468880" cy="86868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Clean and consistent traffic datasets enable reliable decision-making for CUMTA's transport planning.</a:t>
            </a:r>
            <a:endParaRPr lang="en-US" sz="1000" dirty="0"/>
          </a:p>
        </p:txBody>
      </p:sp>
      <p:sp>
        <p:nvSpPr>
          <p:cNvPr id="9" name="Shape 7"/>
          <p:cNvSpPr/>
          <p:nvPr/>
        </p:nvSpPr>
        <p:spPr>
          <a:xfrm>
            <a:off x="3246120" y="1234440"/>
            <a:ext cx="2743200" cy="1481328"/>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0" name="Shape 8"/>
          <p:cNvSpPr/>
          <p:nvPr/>
        </p:nvSpPr>
        <p:spPr>
          <a:xfrm>
            <a:off x="3246120" y="1234440"/>
            <a:ext cx="64008" cy="1481328"/>
          </a:xfrm>
          <a:prstGeom prst="rect">
            <a:avLst/>
          </a:prstGeom>
          <a:solidFill>
            <a:srgbClr val="0D9488"/>
          </a:solidFill>
          <a:ln w="12700">
            <a:solidFill>
              <a:srgbClr val="0D9488"/>
            </a:solidFill>
            <a:prstDash val="solid"/>
          </a:ln>
        </p:spPr>
        <p:txBody>
          <a:bodyPr/>
          <a:lstStyle/>
          <a:p>
            <a:endParaRPr lang="en-US"/>
          </a:p>
        </p:txBody>
      </p:sp>
      <p:sp>
        <p:nvSpPr>
          <p:cNvPr id="11" name="Text 9"/>
          <p:cNvSpPr/>
          <p:nvPr/>
        </p:nvSpPr>
        <p:spPr>
          <a:xfrm>
            <a:off x="3447288" y="1417320"/>
            <a:ext cx="2468880" cy="320040"/>
          </a:xfrm>
          <a:prstGeom prst="rect">
            <a:avLst/>
          </a:prstGeom>
          <a:noFill/>
          <a:ln/>
        </p:spPr>
        <p:txBody>
          <a:bodyPr wrap="square" lIns="0" tIns="0" rIns="0" bIns="0" rtlCol="0" anchor="ctr"/>
          <a:lstStyle/>
          <a:p>
            <a:pPr marL="0" indent="0">
              <a:buNone/>
            </a:pPr>
            <a:r>
              <a:rPr lang="en-US" sz="1200" b="1" dirty="0">
                <a:solidFill>
                  <a:srgbClr val="1C2951"/>
                </a:solidFill>
                <a:latin typeface="Calibri" pitchFamily="34" charset="0"/>
                <a:ea typeface="Calibri" pitchFamily="34" charset="-122"/>
                <a:cs typeface="Calibri" pitchFamily="34" charset="-120"/>
              </a:rPr>
              <a:t>Visualized Insights</a:t>
            </a:r>
            <a:endParaRPr lang="en-US" sz="1200" dirty="0"/>
          </a:p>
        </p:txBody>
      </p:sp>
      <p:sp>
        <p:nvSpPr>
          <p:cNvPr id="12" name="Text 10"/>
          <p:cNvSpPr/>
          <p:nvPr/>
        </p:nvSpPr>
        <p:spPr>
          <a:xfrm>
            <a:off x="3447288" y="1764792"/>
            <a:ext cx="2468880" cy="86868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The Tableau dashboard transformed how traffic data is consumed — providing real-time analytics to planners.</a:t>
            </a:r>
            <a:endParaRPr lang="en-US" sz="1000" dirty="0"/>
          </a:p>
        </p:txBody>
      </p:sp>
      <p:sp>
        <p:nvSpPr>
          <p:cNvPr id="13" name="Shape 11"/>
          <p:cNvSpPr/>
          <p:nvPr/>
        </p:nvSpPr>
        <p:spPr>
          <a:xfrm>
            <a:off x="6172200" y="1234440"/>
            <a:ext cx="2743200" cy="1481328"/>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4" name="Shape 12"/>
          <p:cNvSpPr/>
          <p:nvPr/>
        </p:nvSpPr>
        <p:spPr>
          <a:xfrm>
            <a:off x="6172200" y="1234440"/>
            <a:ext cx="64008" cy="1481328"/>
          </a:xfrm>
          <a:prstGeom prst="rect">
            <a:avLst/>
          </a:prstGeom>
          <a:solidFill>
            <a:srgbClr val="0D9488"/>
          </a:solidFill>
          <a:ln w="12700">
            <a:solidFill>
              <a:srgbClr val="0D9488"/>
            </a:solidFill>
            <a:prstDash val="solid"/>
          </a:ln>
        </p:spPr>
        <p:txBody>
          <a:bodyPr/>
          <a:lstStyle/>
          <a:p>
            <a:endParaRPr lang="en-US"/>
          </a:p>
        </p:txBody>
      </p:sp>
      <p:sp>
        <p:nvSpPr>
          <p:cNvPr id="15" name="Text 13"/>
          <p:cNvSpPr/>
          <p:nvPr/>
        </p:nvSpPr>
        <p:spPr>
          <a:xfrm>
            <a:off x="6373368" y="1417320"/>
            <a:ext cx="2468880" cy="320040"/>
          </a:xfrm>
          <a:prstGeom prst="rect">
            <a:avLst/>
          </a:prstGeom>
          <a:noFill/>
          <a:ln/>
        </p:spPr>
        <p:txBody>
          <a:bodyPr wrap="square" lIns="0" tIns="0" rIns="0" bIns="0" rtlCol="0" anchor="ctr"/>
          <a:lstStyle/>
          <a:p>
            <a:pPr marL="0" indent="0">
              <a:buNone/>
            </a:pPr>
            <a:r>
              <a:rPr lang="en-US" sz="1200" b="1" dirty="0">
                <a:solidFill>
                  <a:srgbClr val="1C2951"/>
                </a:solidFill>
                <a:latin typeface="Calibri" pitchFamily="34" charset="0"/>
                <a:ea typeface="Calibri" pitchFamily="34" charset="-122"/>
                <a:cs typeface="Calibri" pitchFamily="34" charset="-120"/>
              </a:rPr>
              <a:t>Scalable Backend</a:t>
            </a:r>
            <a:endParaRPr lang="en-US" sz="1200" dirty="0"/>
          </a:p>
        </p:txBody>
      </p:sp>
      <p:sp>
        <p:nvSpPr>
          <p:cNvPr id="16" name="Text 14"/>
          <p:cNvSpPr/>
          <p:nvPr/>
        </p:nvSpPr>
        <p:spPr>
          <a:xfrm>
            <a:off x="6373368" y="1764792"/>
            <a:ext cx="2468880" cy="86868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Flask + MongoDB integration enhances scalability and accessibility of traffic data across departments.</a:t>
            </a:r>
            <a:endParaRPr lang="en-US" sz="1000" dirty="0"/>
          </a:p>
        </p:txBody>
      </p:sp>
      <p:sp>
        <p:nvSpPr>
          <p:cNvPr id="17" name="Shape 15"/>
          <p:cNvSpPr/>
          <p:nvPr/>
        </p:nvSpPr>
        <p:spPr>
          <a:xfrm>
            <a:off x="320040" y="2898648"/>
            <a:ext cx="4160520" cy="1481328"/>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8" name="Shape 16"/>
          <p:cNvSpPr/>
          <p:nvPr/>
        </p:nvSpPr>
        <p:spPr>
          <a:xfrm>
            <a:off x="320040" y="2898648"/>
            <a:ext cx="64008" cy="1481328"/>
          </a:xfrm>
          <a:prstGeom prst="rect">
            <a:avLst/>
          </a:prstGeom>
          <a:solidFill>
            <a:srgbClr val="0D9488"/>
          </a:solidFill>
          <a:ln w="12700">
            <a:solidFill>
              <a:srgbClr val="0D9488"/>
            </a:solidFill>
            <a:prstDash val="solid"/>
          </a:ln>
        </p:spPr>
        <p:txBody>
          <a:bodyPr/>
          <a:lstStyle/>
          <a:p>
            <a:endParaRPr lang="en-US"/>
          </a:p>
        </p:txBody>
      </p:sp>
      <p:sp>
        <p:nvSpPr>
          <p:cNvPr id="19" name="Text 17"/>
          <p:cNvSpPr/>
          <p:nvPr/>
        </p:nvSpPr>
        <p:spPr>
          <a:xfrm>
            <a:off x="521208" y="3081528"/>
            <a:ext cx="3794760" cy="320040"/>
          </a:xfrm>
          <a:prstGeom prst="rect">
            <a:avLst/>
          </a:prstGeom>
          <a:noFill/>
          <a:ln/>
        </p:spPr>
        <p:txBody>
          <a:bodyPr wrap="square" lIns="0" tIns="0" rIns="0" bIns="0" rtlCol="0" anchor="ctr"/>
          <a:lstStyle/>
          <a:p>
            <a:pPr marL="0" indent="0">
              <a:buNone/>
            </a:pPr>
            <a:r>
              <a:rPr lang="en-US" sz="1200" b="1" dirty="0">
                <a:solidFill>
                  <a:srgbClr val="1C2951"/>
                </a:solidFill>
                <a:latin typeface="Calibri" pitchFamily="34" charset="0"/>
                <a:ea typeface="Calibri" pitchFamily="34" charset="-122"/>
                <a:cs typeface="Calibri" pitchFamily="34" charset="-120"/>
              </a:rPr>
              <a:t>AI Groundwork</a:t>
            </a:r>
            <a:endParaRPr lang="en-US" sz="1200" dirty="0"/>
          </a:p>
        </p:txBody>
      </p:sp>
      <p:sp>
        <p:nvSpPr>
          <p:cNvPr id="20" name="Text 18"/>
          <p:cNvSpPr/>
          <p:nvPr/>
        </p:nvSpPr>
        <p:spPr>
          <a:xfrm>
            <a:off x="521208" y="3429000"/>
            <a:ext cx="3794760" cy="86868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The annotated Roboflow dataset lays the foundation for AI-driven traffic monitoring and smart enforcement.</a:t>
            </a:r>
            <a:endParaRPr lang="en-US" sz="1000" dirty="0"/>
          </a:p>
        </p:txBody>
      </p:sp>
      <p:sp>
        <p:nvSpPr>
          <p:cNvPr id="21" name="Shape 19"/>
          <p:cNvSpPr/>
          <p:nvPr/>
        </p:nvSpPr>
        <p:spPr>
          <a:xfrm>
            <a:off x="4663440" y="2898648"/>
            <a:ext cx="4160520" cy="1481328"/>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2" name="Shape 20"/>
          <p:cNvSpPr/>
          <p:nvPr/>
        </p:nvSpPr>
        <p:spPr>
          <a:xfrm>
            <a:off x="4663440" y="2898648"/>
            <a:ext cx="64008" cy="1481328"/>
          </a:xfrm>
          <a:prstGeom prst="rect">
            <a:avLst/>
          </a:prstGeom>
          <a:solidFill>
            <a:srgbClr val="0D9488"/>
          </a:solidFill>
          <a:ln w="12700">
            <a:solidFill>
              <a:srgbClr val="0D9488"/>
            </a:solidFill>
            <a:prstDash val="solid"/>
          </a:ln>
        </p:spPr>
        <p:txBody>
          <a:bodyPr/>
          <a:lstStyle/>
          <a:p>
            <a:endParaRPr lang="en-US"/>
          </a:p>
        </p:txBody>
      </p:sp>
      <p:sp>
        <p:nvSpPr>
          <p:cNvPr id="23" name="Text 21"/>
          <p:cNvSpPr/>
          <p:nvPr/>
        </p:nvSpPr>
        <p:spPr>
          <a:xfrm>
            <a:off x="4864608" y="3081528"/>
            <a:ext cx="3794760" cy="320040"/>
          </a:xfrm>
          <a:prstGeom prst="rect">
            <a:avLst/>
          </a:prstGeom>
          <a:noFill/>
          <a:ln/>
        </p:spPr>
        <p:txBody>
          <a:bodyPr wrap="square" lIns="0" tIns="0" rIns="0" bIns="0" rtlCol="0" anchor="ctr"/>
          <a:lstStyle/>
          <a:p>
            <a:pPr marL="0" indent="0">
              <a:buNone/>
            </a:pPr>
            <a:r>
              <a:rPr lang="en-US" sz="1200" b="1" dirty="0">
                <a:solidFill>
                  <a:srgbClr val="1C2951"/>
                </a:solidFill>
                <a:latin typeface="Calibri" pitchFamily="34" charset="0"/>
                <a:ea typeface="Calibri" pitchFamily="34" charset="-122"/>
                <a:cs typeface="Calibri" pitchFamily="34" charset="-120"/>
              </a:rPr>
              <a:t>Smart City Alignment</a:t>
            </a:r>
            <a:endParaRPr lang="en-US" sz="1200" dirty="0"/>
          </a:p>
        </p:txBody>
      </p:sp>
      <p:sp>
        <p:nvSpPr>
          <p:cNvPr id="24" name="Text 22"/>
          <p:cNvSpPr/>
          <p:nvPr/>
        </p:nvSpPr>
        <p:spPr>
          <a:xfrm>
            <a:off x="4864608" y="3429000"/>
            <a:ext cx="3794760" cy="86868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The project aligns with CUMTA's mission to modernize urban transport using data-driven technologies.</a:t>
            </a:r>
            <a:endParaRPr lang="en-US" sz="1000" dirty="0"/>
          </a:p>
        </p:txBody>
      </p:sp>
      <p:sp>
        <p:nvSpPr>
          <p:cNvPr id="25" name="Shape 23"/>
          <p:cNvSpPr/>
          <p:nvPr/>
        </p:nvSpPr>
        <p:spPr>
          <a:xfrm>
            <a:off x="0" y="4873752"/>
            <a:ext cx="9144000" cy="274320"/>
          </a:xfrm>
          <a:prstGeom prst="rect">
            <a:avLst/>
          </a:prstGeom>
          <a:solidFill>
            <a:srgbClr val="1C2951"/>
          </a:solidFill>
          <a:ln w="12700">
            <a:solidFill>
              <a:srgbClr val="1C2951"/>
            </a:solidFill>
            <a:prstDash val="solid"/>
          </a:ln>
        </p:spPr>
        <p:txBody>
          <a:bodyPr/>
          <a:lstStyle/>
          <a:p>
            <a:endParaRPr lang="en-US"/>
          </a:p>
        </p:txBody>
      </p:sp>
      <p:sp>
        <p:nvSpPr>
          <p:cNvPr id="26" name="Text 24"/>
          <p:cNvSpPr/>
          <p:nvPr/>
        </p:nvSpPr>
        <p:spPr>
          <a:xfrm>
            <a:off x="274320" y="4873752"/>
            <a:ext cx="8595360" cy="274320"/>
          </a:xfrm>
          <a:prstGeom prst="rect">
            <a:avLst/>
          </a:prstGeom>
          <a:noFill/>
          <a:ln/>
        </p:spPr>
        <p:txBody>
          <a:bodyPr wrap="square" lIns="0" tIns="0" rIns="0" bIns="0" rtlCol="0" anchor="ctr"/>
          <a:lstStyle/>
          <a:p>
            <a:pPr marL="0" indent="0">
              <a:buNone/>
            </a:pPr>
            <a:r>
              <a:rPr lang="en-US" sz="800" dirty="0">
                <a:solidFill>
                  <a:srgbClr val="A0AEC0"/>
                </a:solidFill>
                <a:latin typeface="Calibri" pitchFamily="34" charset="0"/>
                <a:ea typeface="Calibri" pitchFamily="34" charset="-122"/>
                <a:cs typeface="Calibri" pitchFamily="34" charset="-120"/>
              </a:rPr>
              <a:t>Data Science Internship  |  CUMTA  |  Manoj Kumar D</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C2951"/>
        </a:solidFill>
        <a:effectLst/>
      </p:bgPr>
    </p:bg>
    <p:spTree>
      <p:nvGrpSpPr>
        <p:cNvPr id="1" name=""/>
        <p:cNvGrpSpPr/>
        <p:nvPr/>
      </p:nvGrpSpPr>
      <p:grpSpPr>
        <a:xfrm>
          <a:off x="0" y="0"/>
          <a:ext cx="0" cy="0"/>
          <a:chOff x="0" y="0"/>
          <a:chExt cx="0" cy="0"/>
        </a:xfrm>
      </p:grpSpPr>
      <p:sp>
        <p:nvSpPr>
          <p:cNvPr id="2" name="Shape 0"/>
          <p:cNvSpPr/>
          <p:nvPr/>
        </p:nvSpPr>
        <p:spPr>
          <a:xfrm>
            <a:off x="5943600" y="-1828800"/>
            <a:ext cx="6400800" cy="6400800"/>
          </a:xfrm>
          <a:prstGeom prst="ellipse">
            <a:avLst/>
          </a:prstGeom>
          <a:solidFill>
            <a:srgbClr val="0D9488">
              <a:alpha val="10000"/>
            </a:srgbClr>
          </a:solidFill>
          <a:ln w="12700">
            <a:solidFill>
              <a:srgbClr val="0D9488"/>
            </a:solidFill>
            <a:prstDash val="solid"/>
          </a:ln>
        </p:spPr>
        <p:txBody>
          <a:bodyPr/>
          <a:lstStyle/>
          <a:p>
            <a:endParaRPr lang="en-US"/>
          </a:p>
        </p:txBody>
      </p:sp>
      <p:sp>
        <p:nvSpPr>
          <p:cNvPr id="3" name="Shape 1"/>
          <p:cNvSpPr/>
          <p:nvPr/>
        </p:nvSpPr>
        <p:spPr>
          <a:xfrm>
            <a:off x="-1828800" y="2743200"/>
            <a:ext cx="4572000" cy="4572000"/>
          </a:xfrm>
          <a:prstGeom prst="ellipse">
            <a:avLst/>
          </a:prstGeom>
          <a:solidFill>
            <a:srgbClr val="14B8A6">
              <a:alpha val="10000"/>
            </a:srgbClr>
          </a:solidFill>
          <a:ln w="12700">
            <a:solidFill>
              <a:srgbClr val="14B8A6"/>
            </a:solidFill>
            <a:prstDash val="solid"/>
          </a:ln>
        </p:spPr>
        <p:txBody>
          <a:bodyPr/>
          <a:lstStyle/>
          <a:p>
            <a:endParaRPr lang="en-US"/>
          </a:p>
        </p:txBody>
      </p:sp>
      <p:sp>
        <p:nvSpPr>
          <p:cNvPr id="4" name="Text 2"/>
          <p:cNvSpPr/>
          <p:nvPr/>
        </p:nvSpPr>
        <p:spPr>
          <a:xfrm>
            <a:off x="457200" y="201168"/>
            <a:ext cx="8229600" cy="457200"/>
          </a:xfrm>
          <a:prstGeom prst="rect">
            <a:avLst/>
          </a:prstGeom>
          <a:noFill/>
          <a:ln/>
        </p:spPr>
        <p:txBody>
          <a:bodyPr wrap="square" lIns="0" tIns="0" rIns="0" bIns="0" rtlCol="0" anchor="ctr"/>
          <a:lstStyle/>
          <a:p>
            <a:pPr marL="0" indent="0">
              <a:buNone/>
            </a:pPr>
            <a:r>
              <a:rPr lang="en-US" sz="1100" b="1" kern="0" spc="400" dirty="0">
                <a:solidFill>
                  <a:srgbClr val="14B8A6"/>
                </a:solidFill>
                <a:latin typeface="Calibri" pitchFamily="34" charset="0"/>
                <a:ea typeface="Calibri" pitchFamily="34" charset="-122"/>
                <a:cs typeface="Calibri" pitchFamily="34" charset="-120"/>
              </a:rPr>
              <a:t>RESULTS  &amp;  CONCLUSION</a:t>
            </a:r>
            <a:endParaRPr lang="en-US" sz="1100" dirty="0"/>
          </a:p>
        </p:txBody>
      </p:sp>
      <p:sp>
        <p:nvSpPr>
          <p:cNvPr id="5" name="Shape 3"/>
          <p:cNvSpPr/>
          <p:nvPr/>
        </p:nvSpPr>
        <p:spPr>
          <a:xfrm>
            <a:off x="457200" y="658368"/>
            <a:ext cx="1828800" cy="45720"/>
          </a:xfrm>
          <a:prstGeom prst="rect">
            <a:avLst/>
          </a:prstGeom>
          <a:solidFill>
            <a:srgbClr val="0D9488"/>
          </a:solidFill>
          <a:ln w="12700">
            <a:solidFill>
              <a:srgbClr val="0D9488"/>
            </a:solidFill>
            <a:prstDash val="solid"/>
          </a:ln>
        </p:spPr>
        <p:txBody>
          <a:bodyPr/>
          <a:lstStyle/>
          <a:p>
            <a:endParaRPr lang="en-US"/>
          </a:p>
        </p:txBody>
      </p:sp>
      <p:sp>
        <p:nvSpPr>
          <p:cNvPr id="6" name="Shape 4"/>
          <p:cNvSpPr/>
          <p:nvPr/>
        </p:nvSpPr>
        <p:spPr>
          <a:xfrm>
            <a:off x="457200" y="868680"/>
            <a:ext cx="5303520" cy="594360"/>
          </a:xfrm>
          <a:prstGeom prst="rect">
            <a:avLst/>
          </a:prstGeom>
          <a:solidFill>
            <a:srgbClr val="FFFFFF">
              <a:alpha val="8000"/>
            </a:srgbClr>
          </a:solidFill>
          <a:ln w="6350">
            <a:solidFill>
              <a:srgbClr val="0D9488"/>
            </a:solidFill>
            <a:prstDash val="solid"/>
          </a:ln>
        </p:spPr>
        <p:txBody>
          <a:bodyPr/>
          <a:lstStyle/>
          <a:p>
            <a:endParaRPr lang="en-US"/>
          </a:p>
        </p:txBody>
      </p:sp>
      <p:sp>
        <p:nvSpPr>
          <p:cNvPr id="7" name="Shape 5"/>
          <p:cNvSpPr/>
          <p:nvPr/>
        </p:nvSpPr>
        <p:spPr>
          <a:xfrm>
            <a:off x="457200" y="868680"/>
            <a:ext cx="54864" cy="594360"/>
          </a:xfrm>
          <a:prstGeom prst="rect">
            <a:avLst/>
          </a:prstGeom>
          <a:solidFill>
            <a:srgbClr val="0D9488"/>
          </a:solidFill>
          <a:ln w="12700">
            <a:solidFill>
              <a:srgbClr val="0D9488"/>
            </a:solidFill>
            <a:prstDash val="solid"/>
          </a:ln>
        </p:spPr>
        <p:txBody>
          <a:bodyPr/>
          <a:lstStyle/>
          <a:p>
            <a:endParaRPr lang="en-US"/>
          </a:p>
        </p:txBody>
      </p:sp>
      <p:sp>
        <p:nvSpPr>
          <p:cNvPr id="8" name="Text 6"/>
          <p:cNvSpPr/>
          <p:nvPr/>
        </p:nvSpPr>
        <p:spPr>
          <a:xfrm>
            <a:off x="640080" y="905256"/>
            <a:ext cx="4937760" cy="219456"/>
          </a:xfrm>
          <a:prstGeom prst="rect">
            <a:avLst/>
          </a:prstGeom>
          <a:noFill/>
          <a:ln/>
        </p:spPr>
        <p:txBody>
          <a:bodyPr wrap="square" lIns="0" tIns="0" rIns="0" bIns="0" rtlCol="0" anchor="ctr"/>
          <a:lstStyle/>
          <a:p>
            <a:pPr marL="0" indent="0">
              <a:buNone/>
            </a:pPr>
            <a:r>
              <a:rPr lang="en-US" sz="1050" b="1" dirty="0">
                <a:solidFill>
                  <a:srgbClr val="14B8A6"/>
                </a:solidFill>
                <a:latin typeface="Calibri" pitchFamily="34" charset="0"/>
                <a:ea typeface="Calibri" pitchFamily="34" charset="-122"/>
                <a:cs typeface="Calibri" pitchFamily="34" charset="-120"/>
              </a:rPr>
              <a:t>Data Manipulation</a:t>
            </a:r>
            <a:endParaRPr lang="en-US" sz="1050" dirty="0"/>
          </a:p>
        </p:txBody>
      </p:sp>
      <p:sp>
        <p:nvSpPr>
          <p:cNvPr id="9" name="Text 7"/>
          <p:cNvSpPr/>
          <p:nvPr/>
        </p:nvSpPr>
        <p:spPr>
          <a:xfrm>
            <a:off x="640080" y="1143000"/>
            <a:ext cx="4937760" cy="27432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A clean, structured dataset from Thiruvannamalai Bus Depot — ready for analytics and reporting.</a:t>
            </a:r>
            <a:endParaRPr lang="en-US" sz="900" dirty="0"/>
          </a:p>
        </p:txBody>
      </p:sp>
      <p:sp>
        <p:nvSpPr>
          <p:cNvPr id="10" name="Shape 8"/>
          <p:cNvSpPr/>
          <p:nvPr/>
        </p:nvSpPr>
        <p:spPr>
          <a:xfrm>
            <a:off x="457200" y="1581912"/>
            <a:ext cx="5303520" cy="594360"/>
          </a:xfrm>
          <a:prstGeom prst="rect">
            <a:avLst/>
          </a:prstGeom>
          <a:solidFill>
            <a:srgbClr val="FFFFFF">
              <a:alpha val="8000"/>
            </a:srgbClr>
          </a:solidFill>
          <a:ln w="6350">
            <a:solidFill>
              <a:srgbClr val="0D9488"/>
            </a:solidFill>
            <a:prstDash val="solid"/>
          </a:ln>
        </p:spPr>
        <p:txBody>
          <a:bodyPr/>
          <a:lstStyle/>
          <a:p>
            <a:endParaRPr lang="en-US"/>
          </a:p>
        </p:txBody>
      </p:sp>
      <p:sp>
        <p:nvSpPr>
          <p:cNvPr id="11" name="Shape 9"/>
          <p:cNvSpPr/>
          <p:nvPr/>
        </p:nvSpPr>
        <p:spPr>
          <a:xfrm>
            <a:off x="457200" y="1581912"/>
            <a:ext cx="54864" cy="594360"/>
          </a:xfrm>
          <a:prstGeom prst="rect">
            <a:avLst/>
          </a:prstGeom>
          <a:solidFill>
            <a:srgbClr val="0D9488"/>
          </a:solidFill>
          <a:ln w="12700">
            <a:solidFill>
              <a:srgbClr val="0D9488"/>
            </a:solidFill>
            <a:prstDash val="solid"/>
          </a:ln>
        </p:spPr>
        <p:txBody>
          <a:bodyPr/>
          <a:lstStyle/>
          <a:p>
            <a:endParaRPr lang="en-US"/>
          </a:p>
        </p:txBody>
      </p:sp>
      <p:sp>
        <p:nvSpPr>
          <p:cNvPr id="12" name="Text 10"/>
          <p:cNvSpPr/>
          <p:nvPr/>
        </p:nvSpPr>
        <p:spPr>
          <a:xfrm>
            <a:off x="640080" y="1618488"/>
            <a:ext cx="4937760" cy="219456"/>
          </a:xfrm>
          <a:prstGeom prst="rect">
            <a:avLst/>
          </a:prstGeom>
          <a:noFill/>
          <a:ln/>
        </p:spPr>
        <p:txBody>
          <a:bodyPr wrap="square" lIns="0" tIns="0" rIns="0" bIns="0" rtlCol="0" anchor="ctr"/>
          <a:lstStyle/>
          <a:p>
            <a:pPr marL="0" indent="0">
              <a:buNone/>
            </a:pPr>
            <a:r>
              <a:rPr lang="en-US" sz="1050" b="1" dirty="0">
                <a:solidFill>
                  <a:srgbClr val="14B8A6"/>
                </a:solidFill>
                <a:latin typeface="Calibri" pitchFamily="34" charset="0"/>
                <a:ea typeface="Calibri" pitchFamily="34" charset="-122"/>
                <a:cs typeface="Calibri" pitchFamily="34" charset="-120"/>
              </a:rPr>
              <a:t>Tableau Dashboard</a:t>
            </a:r>
            <a:endParaRPr lang="en-US" sz="1050" dirty="0"/>
          </a:p>
        </p:txBody>
      </p:sp>
      <p:sp>
        <p:nvSpPr>
          <p:cNvPr id="13" name="Text 11"/>
          <p:cNvSpPr/>
          <p:nvPr/>
        </p:nvSpPr>
        <p:spPr>
          <a:xfrm>
            <a:off x="640080" y="1856232"/>
            <a:ext cx="4937760" cy="27432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A dynamic, user-friendly traffic dashboard for real-time monitoring of vehicle types at EGA Theatre Signal.</a:t>
            </a:r>
            <a:endParaRPr lang="en-US" sz="900" dirty="0"/>
          </a:p>
        </p:txBody>
      </p:sp>
      <p:sp>
        <p:nvSpPr>
          <p:cNvPr id="14" name="Shape 12"/>
          <p:cNvSpPr/>
          <p:nvPr/>
        </p:nvSpPr>
        <p:spPr>
          <a:xfrm>
            <a:off x="457200" y="2295144"/>
            <a:ext cx="5303520" cy="594360"/>
          </a:xfrm>
          <a:prstGeom prst="rect">
            <a:avLst/>
          </a:prstGeom>
          <a:solidFill>
            <a:srgbClr val="FFFFFF">
              <a:alpha val="8000"/>
            </a:srgbClr>
          </a:solidFill>
          <a:ln w="6350">
            <a:solidFill>
              <a:srgbClr val="0D9488"/>
            </a:solidFill>
            <a:prstDash val="solid"/>
          </a:ln>
        </p:spPr>
        <p:txBody>
          <a:bodyPr/>
          <a:lstStyle/>
          <a:p>
            <a:endParaRPr lang="en-US"/>
          </a:p>
        </p:txBody>
      </p:sp>
      <p:sp>
        <p:nvSpPr>
          <p:cNvPr id="15" name="Shape 13"/>
          <p:cNvSpPr/>
          <p:nvPr/>
        </p:nvSpPr>
        <p:spPr>
          <a:xfrm>
            <a:off x="457200" y="2295144"/>
            <a:ext cx="54864" cy="594360"/>
          </a:xfrm>
          <a:prstGeom prst="rect">
            <a:avLst/>
          </a:prstGeom>
          <a:solidFill>
            <a:srgbClr val="0D9488"/>
          </a:solidFill>
          <a:ln w="12700">
            <a:solidFill>
              <a:srgbClr val="0D9488"/>
            </a:solidFill>
            <a:prstDash val="solid"/>
          </a:ln>
        </p:spPr>
        <p:txBody>
          <a:bodyPr/>
          <a:lstStyle/>
          <a:p>
            <a:endParaRPr lang="en-US"/>
          </a:p>
        </p:txBody>
      </p:sp>
      <p:sp>
        <p:nvSpPr>
          <p:cNvPr id="16" name="Text 14"/>
          <p:cNvSpPr/>
          <p:nvPr/>
        </p:nvSpPr>
        <p:spPr>
          <a:xfrm>
            <a:off x="640080" y="2331720"/>
            <a:ext cx="4937760" cy="219456"/>
          </a:xfrm>
          <a:prstGeom prst="rect">
            <a:avLst/>
          </a:prstGeom>
          <a:noFill/>
          <a:ln/>
        </p:spPr>
        <p:txBody>
          <a:bodyPr wrap="square" lIns="0" tIns="0" rIns="0" bIns="0" rtlCol="0" anchor="ctr"/>
          <a:lstStyle/>
          <a:p>
            <a:pPr marL="0" indent="0">
              <a:buNone/>
            </a:pPr>
            <a:r>
              <a:rPr lang="en-US" sz="1050" b="1" dirty="0">
                <a:solidFill>
                  <a:srgbClr val="14B8A6"/>
                </a:solidFill>
                <a:latin typeface="Calibri" pitchFamily="34" charset="0"/>
                <a:ea typeface="Calibri" pitchFamily="34" charset="-122"/>
                <a:cs typeface="Calibri" pitchFamily="34" charset="-120"/>
              </a:rPr>
              <a:t>Flask Backend</a:t>
            </a:r>
            <a:endParaRPr lang="en-US" sz="1050" dirty="0"/>
          </a:p>
        </p:txBody>
      </p:sp>
      <p:sp>
        <p:nvSpPr>
          <p:cNvPr id="17" name="Text 15"/>
          <p:cNvSpPr/>
          <p:nvPr/>
        </p:nvSpPr>
        <p:spPr>
          <a:xfrm>
            <a:off x="640080" y="2569464"/>
            <a:ext cx="4937760" cy="27432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REST APIs integrated with MongoDB successfully retrieving, processing, and serving traffic data.</a:t>
            </a:r>
            <a:endParaRPr lang="en-US" sz="900" dirty="0"/>
          </a:p>
        </p:txBody>
      </p:sp>
      <p:sp>
        <p:nvSpPr>
          <p:cNvPr id="18" name="Shape 16"/>
          <p:cNvSpPr/>
          <p:nvPr/>
        </p:nvSpPr>
        <p:spPr>
          <a:xfrm>
            <a:off x="457200" y="3008376"/>
            <a:ext cx="5303520" cy="594360"/>
          </a:xfrm>
          <a:prstGeom prst="rect">
            <a:avLst/>
          </a:prstGeom>
          <a:solidFill>
            <a:srgbClr val="FFFFFF">
              <a:alpha val="8000"/>
            </a:srgbClr>
          </a:solidFill>
          <a:ln w="6350">
            <a:solidFill>
              <a:srgbClr val="0D9488"/>
            </a:solidFill>
            <a:prstDash val="solid"/>
          </a:ln>
        </p:spPr>
        <p:txBody>
          <a:bodyPr/>
          <a:lstStyle/>
          <a:p>
            <a:endParaRPr lang="en-US"/>
          </a:p>
        </p:txBody>
      </p:sp>
      <p:sp>
        <p:nvSpPr>
          <p:cNvPr id="19" name="Shape 17"/>
          <p:cNvSpPr/>
          <p:nvPr/>
        </p:nvSpPr>
        <p:spPr>
          <a:xfrm>
            <a:off x="457200" y="3008376"/>
            <a:ext cx="54864" cy="594360"/>
          </a:xfrm>
          <a:prstGeom prst="rect">
            <a:avLst/>
          </a:prstGeom>
          <a:solidFill>
            <a:srgbClr val="0D9488"/>
          </a:solidFill>
          <a:ln w="12700">
            <a:solidFill>
              <a:srgbClr val="0D9488"/>
            </a:solidFill>
            <a:prstDash val="solid"/>
          </a:ln>
        </p:spPr>
        <p:txBody>
          <a:bodyPr/>
          <a:lstStyle/>
          <a:p>
            <a:endParaRPr lang="en-US"/>
          </a:p>
        </p:txBody>
      </p:sp>
      <p:sp>
        <p:nvSpPr>
          <p:cNvPr id="20" name="Text 18"/>
          <p:cNvSpPr/>
          <p:nvPr/>
        </p:nvSpPr>
        <p:spPr>
          <a:xfrm>
            <a:off x="640080" y="3044952"/>
            <a:ext cx="4937760" cy="219456"/>
          </a:xfrm>
          <a:prstGeom prst="rect">
            <a:avLst/>
          </a:prstGeom>
          <a:noFill/>
          <a:ln/>
        </p:spPr>
        <p:txBody>
          <a:bodyPr wrap="square" lIns="0" tIns="0" rIns="0" bIns="0" rtlCol="0" anchor="ctr"/>
          <a:lstStyle/>
          <a:p>
            <a:pPr marL="0" indent="0">
              <a:buNone/>
            </a:pPr>
            <a:r>
              <a:rPr lang="en-US" sz="1050" b="1" dirty="0">
                <a:solidFill>
                  <a:srgbClr val="14B8A6"/>
                </a:solidFill>
                <a:latin typeface="Calibri" pitchFamily="34" charset="0"/>
                <a:ea typeface="Calibri" pitchFamily="34" charset="-122"/>
                <a:cs typeface="Calibri" pitchFamily="34" charset="-120"/>
              </a:rPr>
              <a:t>Image Annotation</a:t>
            </a:r>
            <a:endParaRPr lang="en-US" sz="1050" dirty="0"/>
          </a:p>
        </p:txBody>
      </p:sp>
      <p:sp>
        <p:nvSpPr>
          <p:cNvPr id="21" name="Text 19"/>
          <p:cNvSpPr/>
          <p:nvPr/>
        </p:nvSpPr>
        <p:spPr>
          <a:xfrm>
            <a:off x="640080" y="3282696"/>
            <a:ext cx="4937760" cy="27432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2,019 annotated images across 9 vehicle classes in Roboflow, ready for YOLOv5 model training.</a:t>
            </a:r>
            <a:endParaRPr lang="en-US" sz="900" dirty="0"/>
          </a:p>
        </p:txBody>
      </p:sp>
      <p:sp>
        <p:nvSpPr>
          <p:cNvPr id="22" name="Shape 20"/>
          <p:cNvSpPr/>
          <p:nvPr/>
        </p:nvSpPr>
        <p:spPr>
          <a:xfrm>
            <a:off x="6126480" y="868680"/>
            <a:ext cx="2834640" cy="3794760"/>
          </a:xfrm>
          <a:prstGeom prst="rect">
            <a:avLst/>
          </a:prstGeom>
          <a:solidFill>
            <a:srgbClr val="0D9488">
              <a:alpha val="12000"/>
            </a:srgbClr>
          </a:solidFill>
          <a:ln w="6350">
            <a:solidFill>
              <a:srgbClr val="0D9488"/>
            </a:solidFill>
            <a:prstDash val="solid"/>
          </a:ln>
        </p:spPr>
        <p:txBody>
          <a:bodyPr/>
          <a:lstStyle/>
          <a:p>
            <a:endParaRPr lang="en-US"/>
          </a:p>
        </p:txBody>
      </p:sp>
      <p:sp>
        <p:nvSpPr>
          <p:cNvPr id="23" name="Text 21"/>
          <p:cNvSpPr/>
          <p:nvPr/>
        </p:nvSpPr>
        <p:spPr>
          <a:xfrm>
            <a:off x="6263640" y="960120"/>
            <a:ext cx="2560320" cy="274320"/>
          </a:xfrm>
          <a:prstGeom prst="rect">
            <a:avLst/>
          </a:prstGeom>
          <a:noFill/>
          <a:ln/>
        </p:spPr>
        <p:txBody>
          <a:bodyPr wrap="square" lIns="0" tIns="0" rIns="0" bIns="0" rtlCol="0" anchor="ctr"/>
          <a:lstStyle/>
          <a:p>
            <a:pPr marL="0" indent="0">
              <a:buNone/>
            </a:pPr>
            <a:r>
              <a:rPr lang="en-US" sz="1000" b="1" kern="0" spc="200" dirty="0">
                <a:solidFill>
                  <a:srgbClr val="14B8A6"/>
                </a:solidFill>
                <a:latin typeface="Calibri" pitchFamily="34" charset="0"/>
                <a:ea typeface="Calibri" pitchFamily="34" charset="-122"/>
                <a:cs typeface="Calibri" pitchFamily="34" charset="-120"/>
              </a:rPr>
              <a:t>CONCLUSION</a:t>
            </a:r>
            <a:endParaRPr lang="en-US" sz="1000" dirty="0"/>
          </a:p>
        </p:txBody>
      </p:sp>
      <p:sp>
        <p:nvSpPr>
          <p:cNvPr id="24" name="Text 22"/>
          <p:cNvSpPr/>
          <p:nvPr/>
        </p:nvSpPr>
        <p:spPr>
          <a:xfrm>
            <a:off x="6263640" y="1298448"/>
            <a:ext cx="2560320" cy="3200400"/>
          </a:xfrm>
          <a:prstGeom prst="rect">
            <a:avLst/>
          </a:prstGeom>
          <a:noFill/>
          <a:ln/>
        </p:spPr>
        <p:txBody>
          <a:bodyPr wrap="square" lIns="0" tIns="0" rIns="0" bIns="0" rtlCol="0" anchor="ctr"/>
          <a:lstStyle/>
          <a:p>
            <a:pPr marL="0" indent="0">
              <a:buNone/>
            </a:pPr>
            <a:r>
              <a:rPr lang="en-US" sz="950" dirty="0">
                <a:solidFill>
                  <a:srgbClr val="E2E8F0"/>
                </a:solidFill>
                <a:latin typeface="Calibri" pitchFamily="34" charset="0"/>
                <a:ea typeface="Calibri" pitchFamily="34" charset="-122"/>
                <a:cs typeface="Calibri" pitchFamily="34" charset="-120"/>
              </a:rPr>
              <a:t>The internship at CUMTA provided a unique opportunity to apply data science in real-world urban transport challenges.</a:t>
            </a:r>
            <a:endParaRPr lang="en-US" sz="950" dirty="0"/>
          </a:p>
          <a:p>
            <a:pPr marL="0" indent="0">
              <a:buNone/>
            </a:pPr>
            <a:endParaRPr lang="en-US" sz="950" dirty="0"/>
          </a:p>
          <a:p>
            <a:pPr marL="0" indent="0">
              <a:buNone/>
            </a:pPr>
            <a:r>
              <a:rPr lang="en-US" sz="950" dirty="0">
                <a:solidFill>
                  <a:srgbClr val="E2E8F0"/>
                </a:solidFill>
                <a:latin typeface="Calibri" pitchFamily="34" charset="0"/>
                <a:ea typeface="Calibri" pitchFamily="34" charset="-122"/>
                <a:cs typeface="Calibri" pitchFamily="34" charset="-120"/>
              </a:rPr>
              <a:t>From data cleaning and visualization to backend development and AI-ready annotation, each phase contributed to CUMTA's vision of a smarter, data-driven transport network for Chennai.</a:t>
            </a:r>
            <a:endParaRPr lang="en-US" sz="950" dirty="0"/>
          </a:p>
        </p:txBody>
      </p:sp>
      <p:sp>
        <p:nvSpPr>
          <p:cNvPr id="25" name="Shape 23"/>
          <p:cNvSpPr/>
          <p:nvPr/>
        </p:nvSpPr>
        <p:spPr>
          <a:xfrm>
            <a:off x="0" y="4873752"/>
            <a:ext cx="9144000" cy="274320"/>
          </a:xfrm>
          <a:prstGeom prst="rect">
            <a:avLst/>
          </a:prstGeom>
          <a:solidFill>
            <a:srgbClr val="0F172A"/>
          </a:solidFill>
          <a:ln w="12700">
            <a:solidFill>
              <a:srgbClr val="0F172A"/>
            </a:solidFill>
            <a:prstDash val="solid"/>
          </a:ln>
        </p:spPr>
        <p:txBody>
          <a:bodyPr/>
          <a:lstStyle/>
          <a:p>
            <a:endParaRPr lang="en-US"/>
          </a:p>
        </p:txBody>
      </p:sp>
      <p:sp>
        <p:nvSpPr>
          <p:cNvPr id="26" name="Text 24"/>
          <p:cNvSpPr/>
          <p:nvPr/>
        </p:nvSpPr>
        <p:spPr>
          <a:xfrm>
            <a:off x="274320" y="4873752"/>
            <a:ext cx="8595360" cy="274320"/>
          </a:xfrm>
          <a:prstGeom prst="rect">
            <a:avLst/>
          </a:prstGeom>
          <a:noFill/>
          <a:ln/>
        </p:spPr>
        <p:txBody>
          <a:bodyPr wrap="square" lIns="0" tIns="0" rIns="0" bIns="0" rtlCol="0" anchor="ctr"/>
          <a:lstStyle/>
          <a:p>
            <a:pPr marL="0" indent="0">
              <a:buNone/>
            </a:pPr>
            <a:r>
              <a:rPr lang="en-US" sz="800" dirty="0">
                <a:solidFill>
                  <a:srgbClr val="475569"/>
                </a:solidFill>
                <a:latin typeface="Calibri" pitchFamily="34" charset="0"/>
                <a:ea typeface="Calibri" pitchFamily="34" charset="-122"/>
                <a:cs typeface="Calibri" pitchFamily="34" charset="-120"/>
              </a:rPr>
              <a:t>Manoj Kumar D  |  412422205084  |  B.Tech Information Technology  |  Sri Sai Ram Institute of Technology</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1225</Words>
  <Application>Microsoft Office PowerPoint</Application>
  <PresentationFormat>On-screen Show (16:9)</PresentationFormat>
  <Paragraphs>169</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Science Internship at CUMTA</dc:title>
  <dc:subject>PptxGenJS Presentation</dc:subject>
  <dc:creator>Manoj Kumar D</dc:creator>
  <cp:lastModifiedBy>D, Manoj Kumar (Contractor)</cp:lastModifiedBy>
  <cp:revision>2</cp:revision>
  <dcterms:created xsi:type="dcterms:W3CDTF">2026-05-17T15:18:43Z</dcterms:created>
  <dcterms:modified xsi:type="dcterms:W3CDTF">2026-05-17T15:28:51Z</dcterms:modified>
</cp:coreProperties>
</file>